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4"/>
  </p:sldMasterIdLst>
  <p:notesMasterIdLst>
    <p:notesMasterId r:id="rId14"/>
  </p:notesMasterIdLst>
  <p:sldIdLst>
    <p:sldId id="271" r:id="rId5"/>
    <p:sldId id="300" r:id="rId6"/>
    <p:sldId id="306" r:id="rId7"/>
    <p:sldId id="307" r:id="rId8"/>
    <p:sldId id="308" r:id="rId9"/>
    <p:sldId id="309" r:id="rId10"/>
    <p:sldId id="312" r:id="rId11"/>
    <p:sldId id="301" r:id="rId12"/>
    <p:sldId id="30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03" autoAdjust="0"/>
    <p:restoredTop sz="94631" autoAdjust="0"/>
  </p:normalViewPr>
  <p:slideViewPr>
    <p:cSldViewPr snapToGrid="0">
      <p:cViewPr>
        <p:scale>
          <a:sx n="75" d="100"/>
          <a:sy n="75" d="100"/>
        </p:scale>
        <p:origin x="955" y="12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01-Mar-26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dirty="0"/>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2</a:t>
            </a:fld>
            <a:endParaRPr lang="en-US" dirty="0"/>
          </a:p>
        </p:txBody>
      </p:sp>
    </p:spTree>
    <p:extLst>
      <p:ext uri="{BB962C8B-B14F-4D97-AF65-F5344CB8AC3E}">
        <p14:creationId xmlns:p14="http://schemas.microsoft.com/office/powerpoint/2010/main" val="3434968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6</a:t>
            </a:fld>
            <a:endParaRPr lang="en-US" dirty="0"/>
          </a:p>
        </p:txBody>
      </p:sp>
    </p:spTree>
    <p:extLst>
      <p:ext uri="{BB962C8B-B14F-4D97-AF65-F5344CB8AC3E}">
        <p14:creationId xmlns:p14="http://schemas.microsoft.com/office/powerpoint/2010/main" val="1954798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E934FF-F4E1-47C5-9CA5-30A81DDE2BE4}" type="datetimeFigureOut">
              <a:rPr lang="en-US" smtClean="0">
                <a:solidFill>
                  <a:prstClr val="black">
                    <a:tint val="75000"/>
                  </a:prstClr>
                </a:solidFill>
              </a:rPr>
              <a:pPr/>
              <a:t>01-Mar-26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680411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E934FF-F4E1-47C5-9CA5-30A81DDE2BE4}" type="datetimeFigureOut">
              <a:rPr lang="en-US" smtClean="0">
                <a:solidFill>
                  <a:prstClr val="black">
                    <a:tint val="75000"/>
                  </a:prstClr>
                </a:solidFill>
              </a:rPr>
              <a:pPr/>
              <a:t>01-Mar-26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85666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E934FF-F4E1-47C5-9CA5-30A81DDE2BE4}" type="datetimeFigureOut">
              <a:rPr lang="en-US" smtClean="0">
                <a:solidFill>
                  <a:prstClr val="black">
                    <a:tint val="75000"/>
                  </a:prstClr>
                </a:solidFill>
              </a:rPr>
              <a:pPr/>
              <a:t>01-Mar-26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682263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E934FF-F4E1-47C5-9CA5-30A81DDE2BE4}" type="datetimeFigureOut">
              <a:rPr lang="en-US" smtClean="0">
                <a:solidFill>
                  <a:prstClr val="black">
                    <a:tint val="75000"/>
                  </a:prstClr>
                </a:solidFill>
              </a:rPr>
              <a:pPr/>
              <a:t>01-Mar-26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24593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E934FF-F4E1-47C5-9CA5-30A81DDE2BE4}" type="datetimeFigureOut">
              <a:rPr lang="en-US" smtClean="0">
                <a:solidFill>
                  <a:prstClr val="black">
                    <a:tint val="75000"/>
                  </a:prstClr>
                </a:solidFill>
              </a:rPr>
              <a:pPr/>
              <a:t>01-Mar-26</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99177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E934FF-F4E1-47C5-9CA5-30A81DDE2BE4}" type="datetimeFigureOut">
              <a:rPr lang="en-US" smtClean="0">
                <a:solidFill>
                  <a:prstClr val="black">
                    <a:tint val="75000"/>
                  </a:prstClr>
                </a:solidFill>
              </a:rPr>
              <a:pPr/>
              <a:t>01-Mar-26</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655884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E934FF-F4E1-47C5-9CA5-30A81DDE2BE4}" type="datetimeFigureOut">
              <a:rPr lang="en-US" smtClean="0">
                <a:solidFill>
                  <a:prstClr val="black">
                    <a:tint val="75000"/>
                  </a:prstClr>
                </a:solidFill>
              </a:rPr>
              <a:pPr/>
              <a:t>01-Mar-26</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128765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01-Mar-26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09433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E934FF-F4E1-47C5-9CA5-30A81DDE2BE4}" type="datetimeFigureOut">
              <a:rPr lang="en-US" smtClean="0">
                <a:solidFill>
                  <a:prstClr val="black">
                    <a:tint val="75000"/>
                  </a:prstClr>
                </a:solidFill>
              </a:rPr>
              <a:pPr/>
              <a:t>01-Mar-26</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777486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01-Mar-26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39968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E934FF-F4E1-47C5-9CA5-30A81DDE2BE4}" type="datetimeFigureOut">
              <a:rPr lang="en-US" smtClean="0">
                <a:solidFill>
                  <a:prstClr val="black">
                    <a:tint val="75000"/>
                  </a:prstClr>
                </a:solidFill>
              </a:rPr>
              <a:pPr/>
              <a:t>01-Mar-26</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4496758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3280756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01-Mar-26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pic>
        <p:nvPicPr>
          <p:cNvPr id="7" name="Picture 6" descr="Background pattern&#10;&#10;Description automatically generated">
            <a:extLst>
              <a:ext uri="{FF2B5EF4-FFF2-40B4-BE49-F238E27FC236}">
                <a16:creationId xmlns:a16="http://schemas.microsoft.com/office/drawing/2014/main" id="{11D51461-FD58-D2EA-82C5-D24B223E11BE}"/>
              </a:ext>
            </a:extLst>
          </p:cNvPr>
          <p:cNvPicPr>
            <a:picLocks noChangeAspect="1"/>
          </p:cNvPicPr>
          <p:nvPr userDrawn="1"/>
        </p:nvPicPr>
        <p:blipFill>
          <a:blip r:embed="rId14">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8" name="Rectangle 7">
            <a:extLst>
              <a:ext uri="{FF2B5EF4-FFF2-40B4-BE49-F238E27FC236}">
                <a16:creationId xmlns:a16="http://schemas.microsoft.com/office/drawing/2014/main" id="{4F866BB4-E3D7-F19E-E650-A131809A3E35}"/>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21E3CE62-6178-6CD9-9BAF-0352AAC72C8A}"/>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Background pattern&#10;&#10;Description automatically generated">
            <a:extLst>
              <a:ext uri="{FF2B5EF4-FFF2-40B4-BE49-F238E27FC236}">
                <a16:creationId xmlns:a16="http://schemas.microsoft.com/office/drawing/2014/main" id="{4CD6443C-48CA-7267-C051-C7BB19E8E098}"/>
              </a:ext>
            </a:extLst>
          </p:cNvPr>
          <p:cNvPicPr>
            <a:picLocks noChangeAspect="1"/>
          </p:cNvPicPr>
          <p:nvPr userDrawn="1"/>
        </p:nvPicPr>
        <p:blipFill rotWithShape="1">
          <a:blip r:embed="rId15">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11" name="TextBox 10">
            <a:extLst>
              <a:ext uri="{FF2B5EF4-FFF2-40B4-BE49-F238E27FC236}">
                <a16:creationId xmlns:a16="http://schemas.microsoft.com/office/drawing/2014/main" id="{ADD86357-3811-E118-1A2B-C6098472960B}"/>
              </a:ext>
            </a:extLst>
          </p:cNvPr>
          <p:cNvSpPr txBox="1"/>
          <p:nvPr userDrawn="1"/>
        </p:nvSpPr>
        <p:spPr>
          <a:xfrm>
            <a:off x="1" y="6602979"/>
            <a:ext cx="2132068" cy="215444"/>
          </a:xfrm>
          <a:prstGeom prst="rect">
            <a:avLst/>
          </a:prstGeom>
          <a:noFill/>
        </p:spPr>
        <p:txBody>
          <a:bodyPr wrap="square" rtlCol="0">
            <a:spAutoFit/>
          </a:bodyPr>
          <a:lstStyle/>
          <a:p>
            <a:r>
              <a:rPr lang="en-US" sz="800" dirty="0">
                <a:solidFill>
                  <a:schemeClr val="bg1">
                    <a:lumMod val="95000"/>
                  </a:schemeClr>
                </a:solidFill>
              </a:rPr>
              <a:t>CREATED BY K. VICTOR BABU</a:t>
            </a:r>
          </a:p>
        </p:txBody>
      </p:sp>
    </p:spTree>
    <p:extLst>
      <p:ext uri="{BB962C8B-B14F-4D97-AF65-F5344CB8AC3E}">
        <p14:creationId xmlns:p14="http://schemas.microsoft.com/office/powerpoint/2010/main" val="610360527"/>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9" Type="http://schemas.openxmlformats.org/officeDocument/2006/relationships/hyperlink" Target="https://openclipart.org/detail/104197/calendrier--calendar-by-lmproulx"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openclipart.org/detail/104197/calendrier--calendar-by-lmproulx" TargetMode="External"/><Relationship Id="rId3" Type="http://schemas.openxmlformats.org/officeDocument/2006/relationships/image" Target="../media/image5.sv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hyperlink" Target="https://openclipart.org/detail/104197/calendrier--calendar-by-lmproulx" TargetMode="External"/><Relationship Id="rId3" Type="http://schemas.openxmlformats.org/officeDocument/2006/relationships/image" Target="../media/image5.sv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7.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279532"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3688390" y="652764"/>
            <a:ext cx="4570738" cy="678327"/>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6" name="Google Shape;476;p16"/>
          <p:cNvSpPr txBox="1"/>
          <p:nvPr/>
        </p:nvSpPr>
        <p:spPr>
          <a:xfrm>
            <a:off x="1632955" y="1927635"/>
            <a:ext cx="9941159" cy="1323399"/>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IN" sz="2800" b="1" dirty="0">
                <a:latin typeface="Times New Roman" panose="02020603050405020304" pitchFamily="18" charset="0"/>
                <a:cs typeface="Times New Roman" panose="02020603050405020304" pitchFamily="18" charset="0"/>
              </a:rPr>
              <a:t>EMBEDDED PROTOTYPE</a:t>
            </a:r>
          </a:p>
          <a:p>
            <a:pPr marR="0" lvl="0" indent="0" algn="ctr">
              <a:spcBef>
                <a:spcPts val="0"/>
              </a:spcBef>
              <a:spcAft>
                <a:spcPts val="0"/>
              </a:spcAft>
              <a:buNone/>
            </a:pPr>
            <a:endParaRPr lang="en-IN" sz="2400" dirty="0">
              <a:solidFill>
                <a:srgbClr val="00B0F0"/>
              </a:solidFill>
              <a:latin typeface="Times New Roman" panose="02020603050405020304" pitchFamily="18" charset="0"/>
              <a:cs typeface="Times New Roman" panose="02020603050405020304" pitchFamily="18" charset="0"/>
            </a:endParaRPr>
          </a:p>
          <a:p>
            <a:pPr marR="0" lvl="0" indent="0" algn="ctr">
              <a:spcBef>
                <a:spcPts val="0"/>
              </a:spcBef>
              <a:spcAft>
                <a:spcPts val="0"/>
              </a:spcAft>
              <a:buNone/>
            </a:pPr>
            <a:r>
              <a:rPr lang="en-IN" sz="2800" b="1" dirty="0">
                <a:solidFill>
                  <a:schemeClr val="accent4">
                    <a:lumMod val="50000"/>
                  </a:schemeClr>
                </a:solidFill>
                <a:latin typeface="Times New Roman" panose="02020603050405020304" pitchFamily="18" charset="0"/>
                <a:cs typeface="Times New Roman" panose="02020603050405020304" pitchFamily="18" charset="0"/>
              </a:rPr>
              <a:t>VOICE CONTROL HOME AUTOMATION USING ESP32</a:t>
            </a:r>
            <a:r>
              <a:rPr lang="en-IN" sz="2400" dirty="0">
                <a:solidFill>
                  <a:srgbClr val="00B0F0"/>
                </a:solidFill>
                <a:latin typeface="Times New Roman" panose="02020603050405020304" pitchFamily="18" charset="0"/>
                <a:cs typeface="Times New Roman" panose="02020603050405020304" pitchFamily="18" charset="0"/>
              </a:rPr>
              <a:t>.</a:t>
            </a:r>
            <a:endParaRPr lang="en-US" sz="2400" b="1" dirty="0">
              <a:solidFill>
                <a:srgbClr val="00B0F0"/>
              </a:solidFill>
              <a:effectLst/>
              <a:latin typeface="Times New Roman" panose="02020603050405020304" pitchFamily="18" charset="0"/>
              <a:cs typeface="Times New Roman" panose="02020603050405020304" pitchFamily="18" charset="0"/>
            </a:endParaRPr>
          </a:p>
        </p:txBody>
      </p:sp>
      <p:sp>
        <p:nvSpPr>
          <p:cNvPr id="475" name="Google Shape;475;p16"/>
          <p:cNvSpPr txBox="1"/>
          <p:nvPr/>
        </p:nvSpPr>
        <p:spPr>
          <a:xfrm>
            <a:off x="3715129" y="612744"/>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b="1" dirty="0">
                <a:solidFill>
                  <a:srgbClr val="C00000"/>
                </a:solidFill>
                <a:latin typeface="Agency FB" panose="020B0503020202020204" pitchFamily="34" charset="0"/>
                <a:cs typeface="Poppins" pitchFamily="2" charset="77"/>
              </a:rPr>
              <a:t>Department of ECE </a:t>
            </a:r>
          </a:p>
        </p:txBody>
      </p:sp>
      <p:sp>
        <p:nvSpPr>
          <p:cNvPr id="8" name="Google Shape;502;p17">
            <a:extLst>
              <a:ext uri="{FF2B5EF4-FFF2-40B4-BE49-F238E27FC236}">
                <a16:creationId xmlns:a16="http://schemas.microsoft.com/office/drawing/2014/main" id="{7153E61F-4441-DBE3-3DFF-6E9EF6C48D23}"/>
              </a:ext>
            </a:extLst>
          </p:cNvPr>
          <p:cNvSpPr/>
          <p:nvPr/>
        </p:nvSpPr>
        <p:spPr>
          <a:xfrm>
            <a:off x="6343822" y="4152241"/>
            <a:ext cx="5230293" cy="2522682"/>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lgn="ctr"/>
            <a:r>
              <a:rPr lang="en-US" sz="2400" dirty="0">
                <a:solidFill>
                  <a:schemeClr val="lt1"/>
                </a:solidFill>
                <a:latin typeface="Bangla Sangam MN" panose="02000000000000000000" pitchFamily="2" charset="0"/>
                <a:ea typeface="Calibri"/>
                <a:cs typeface="Bangla Sangam MN" panose="02000000000000000000" pitchFamily="2" charset="0"/>
                <a:sym typeface="Calibri"/>
              </a:rPr>
              <a:t>PRESENTED BY:-</a:t>
            </a:r>
          </a:p>
          <a:p>
            <a:pPr lvl="0" algn="ctr"/>
            <a:r>
              <a:rPr lang="en-US" sz="2400" dirty="0">
                <a:solidFill>
                  <a:schemeClr val="lt1"/>
                </a:solidFill>
                <a:latin typeface="Bangla Sangam MN" panose="02000000000000000000" pitchFamily="2" charset="0"/>
                <a:ea typeface="Calibri"/>
                <a:cs typeface="Bangla Sangam MN" panose="02000000000000000000" pitchFamily="2" charset="0"/>
                <a:sym typeface="Calibri"/>
              </a:rPr>
              <a:t>2300040110 – P Girish </a:t>
            </a:r>
          </a:p>
          <a:p>
            <a:pPr lvl="0" algn="ctr"/>
            <a:r>
              <a:rPr lang="en-US" sz="2400" dirty="0">
                <a:solidFill>
                  <a:schemeClr val="lt1"/>
                </a:solidFill>
                <a:latin typeface="Bangla Sangam MN" panose="02000000000000000000" pitchFamily="2" charset="0"/>
                <a:ea typeface="Calibri"/>
                <a:cs typeface="Bangla Sangam MN" panose="02000000000000000000" pitchFamily="2" charset="0"/>
                <a:sym typeface="Calibri"/>
              </a:rPr>
              <a:t>2300040145 – G Mukhesh Kumar</a:t>
            </a:r>
          </a:p>
          <a:p>
            <a:pPr lvl="0" algn="ctr"/>
            <a:r>
              <a:rPr lang="en-US" sz="2400" dirty="0">
                <a:solidFill>
                  <a:schemeClr val="lt1"/>
                </a:solidFill>
                <a:latin typeface="Bangla Sangam MN" panose="02000000000000000000" pitchFamily="2" charset="0"/>
                <a:ea typeface="Calibri"/>
                <a:cs typeface="Bangla Sangam MN" panose="02000000000000000000" pitchFamily="2" charset="0"/>
                <a:sym typeface="Calibri"/>
              </a:rPr>
              <a:t>2300040186 – P Mahesh</a:t>
            </a:r>
          </a:p>
          <a:p>
            <a:pPr lvl="0" algn="ctr"/>
            <a:endParaRPr lang="en-US" sz="2400" dirty="0">
              <a:solidFill>
                <a:schemeClr val="lt1"/>
              </a:solidFill>
              <a:latin typeface="Bangla Sangam MN" panose="02000000000000000000" pitchFamily="2" charset="0"/>
              <a:ea typeface="Calibri"/>
              <a:cs typeface="Bangla Sangam MN" panose="020000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2" descr="KL Deemed to be University Logo"/>
          <p:cNvPicPr>
            <a:picLocks noChangeAspect="1" noChangeArrowheads="1"/>
          </p:cNvPicPr>
          <p:nvPr/>
        </p:nvPicPr>
        <p:blipFill>
          <a:blip r:embed="rId3"/>
          <a:srcRect/>
          <a:stretch>
            <a:fillRect/>
          </a:stretch>
        </p:blipFill>
        <p:spPr bwMode="auto">
          <a:xfrm>
            <a:off x="183374" y="183077"/>
            <a:ext cx="2509863" cy="1061599"/>
          </a:xfrm>
          <a:prstGeom prst="rect">
            <a:avLst/>
          </a:prstGeom>
          <a:noFill/>
        </p:spPr>
      </p:pic>
      <p:sp>
        <p:nvSpPr>
          <p:cNvPr id="3" name="Google Shape;502;p17">
            <a:extLst>
              <a:ext uri="{FF2B5EF4-FFF2-40B4-BE49-F238E27FC236}">
                <a16:creationId xmlns:a16="http://schemas.microsoft.com/office/drawing/2014/main" id="{69EB8789-8FFB-3760-54FE-61C28F603F16}"/>
              </a:ext>
            </a:extLst>
          </p:cNvPr>
          <p:cNvSpPr/>
          <p:nvPr/>
        </p:nvSpPr>
        <p:spPr>
          <a:xfrm>
            <a:off x="617885" y="4152241"/>
            <a:ext cx="4906328" cy="2522682"/>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lgn="ctr"/>
            <a:r>
              <a:rPr lang="en-US" sz="2400" dirty="0">
                <a:solidFill>
                  <a:schemeClr val="lt1"/>
                </a:solidFill>
                <a:latin typeface="Bangla Sangam MN" panose="02000000000000000000" pitchFamily="2" charset="0"/>
                <a:ea typeface="Calibri"/>
                <a:cs typeface="Bangla Sangam MN" panose="02000000000000000000" pitchFamily="2" charset="0"/>
                <a:sym typeface="Calibri"/>
              </a:rPr>
              <a:t>GUIDED BY:-</a:t>
            </a:r>
          </a:p>
          <a:p>
            <a:pPr lvl="0" algn="ctr"/>
            <a:r>
              <a:rPr lang="en-US" sz="2400" dirty="0">
                <a:solidFill>
                  <a:schemeClr val="lt1"/>
                </a:solidFill>
                <a:latin typeface="Bangla Sangam MN" panose="02000000000000000000" pitchFamily="2" charset="0"/>
                <a:ea typeface="Calibri"/>
                <a:cs typeface="Bangla Sangam MN" panose="02000000000000000000" pitchFamily="2" charset="0"/>
                <a:sym typeface="Calibri"/>
              </a:rPr>
              <a:t>Dr. N. PRABAKARAN</a:t>
            </a:r>
            <a:br>
              <a:rPr lang="en-US" sz="2400" dirty="0">
                <a:solidFill>
                  <a:schemeClr val="lt1"/>
                </a:solidFill>
                <a:latin typeface="Bangla Sangam MN" panose="02000000000000000000" pitchFamily="2" charset="0"/>
                <a:ea typeface="Calibri"/>
                <a:cs typeface="Bangla Sangam MN" panose="02000000000000000000" pitchFamily="2" charset="0"/>
                <a:sym typeface="Calibri"/>
              </a:rPr>
            </a:br>
            <a:r>
              <a:rPr lang="en-US" sz="2400" dirty="0">
                <a:solidFill>
                  <a:schemeClr val="lt1"/>
                </a:solidFill>
                <a:latin typeface="Bangla Sangam MN" panose="02000000000000000000" pitchFamily="2" charset="0"/>
                <a:ea typeface="Calibri"/>
                <a:cs typeface="Bangla Sangam MN" panose="02000000000000000000" pitchFamily="2" charset="0"/>
                <a:sym typeface="Calibri"/>
              </a:rPr>
              <a:t>Associate Professor</a:t>
            </a:r>
            <a:br>
              <a:rPr lang="en-US" sz="2400" dirty="0">
                <a:solidFill>
                  <a:schemeClr val="lt1"/>
                </a:solidFill>
                <a:latin typeface="Bangla Sangam MN" panose="02000000000000000000" pitchFamily="2" charset="0"/>
                <a:ea typeface="Calibri"/>
                <a:cs typeface="Bangla Sangam MN" panose="02000000000000000000" pitchFamily="2" charset="0"/>
                <a:sym typeface="Calibri"/>
              </a:rPr>
            </a:br>
            <a:r>
              <a:rPr lang="en-US" sz="2400" dirty="0">
                <a:solidFill>
                  <a:schemeClr val="lt1"/>
                </a:solidFill>
                <a:latin typeface="Bangla Sangam MN" panose="02000000000000000000" pitchFamily="2" charset="0"/>
                <a:ea typeface="Calibri"/>
                <a:cs typeface="Bangla Sangam MN" panose="02000000000000000000" pitchFamily="2" charset="0"/>
                <a:sym typeface="Calibri"/>
              </a:rPr>
              <a:t>Dept of ECE</a:t>
            </a: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114563" y="381453"/>
            <a:ext cx="384671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Objective</a:t>
            </a:r>
            <a:endParaRPr lang="en-US" sz="2400" dirty="0">
              <a:latin typeface="Agency FB" panose="020B0503020202020204" pitchFamily="34" charset="0"/>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8053" y="1372388"/>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878189" y="1278728"/>
            <a:ext cx="914400" cy="914400"/>
          </a:xfrm>
          <a:prstGeom prst="rect">
            <a:avLst/>
          </a:prstGeom>
        </p:spPr>
      </p:pic>
      <p:pic>
        <p:nvPicPr>
          <p:cNvPr id="12" name="Picture 2" descr="KL Deemed to be University Logo"/>
          <p:cNvPicPr>
            <a:picLocks noChangeAspect="1" noChangeArrowheads="1"/>
          </p:cNvPicPr>
          <p:nvPr/>
        </p:nvPicPr>
        <p:blipFill>
          <a:blip r:embed="rId7"/>
          <a:srcRect/>
          <a:stretch>
            <a:fillRect/>
          </a:stretch>
        </p:blipFill>
        <p:spPr bwMode="auto">
          <a:xfrm>
            <a:off x="283730" y="172075"/>
            <a:ext cx="1990725" cy="600076"/>
          </a:xfrm>
          <a:prstGeom prst="rect">
            <a:avLst/>
          </a:prstGeom>
          <a:noFill/>
        </p:spPr>
      </p:pic>
      <p:sp>
        <p:nvSpPr>
          <p:cNvPr id="25" name="Content Placeholder 2">
            <a:extLst>
              <a:ext uri="{FF2B5EF4-FFF2-40B4-BE49-F238E27FC236}">
                <a16:creationId xmlns:a16="http://schemas.microsoft.com/office/drawing/2014/main" id="{95B371F2-DBA5-415A-82C8-651F587B857A}"/>
              </a:ext>
            </a:extLst>
          </p:cNvPr>
          <p:cNvSpPr>
            <a:spLocks noGrp="1"/>
          </p:cNvSpPr>
          <p:nvPr/>
        </p:nvSpPr>
        <p:spPr>
          <a:xfrm>
            <a:off x="1918665" y="1232730"/>
            <a:ext cx="7720235" cy="4481441"/>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buFont typeface="Arial" panose="020B0604020202020204" pitchFamily="34" charset="0"/>
              <a:buNone/>
              <a:defRPr sz="1600" kern="1200">
                <a:solidFill>
                  <a:schemeClr val="accent2">
                    <a:lumMod val="50000"/>
                  </a:schemeClr>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2000" kern="1200">
                <a:solidFill>
                  <a:schemeClr val="tx2">
                    <a:lumMod val="50000"/>
                  </a:schemeClr>
                </a:solidFill>
                <a:latin typeface="+mn-lt"/>
                <a:ea typeface="+mn-ea"/>
                <a:cs typeface="+mn-cs"/>
              </a:defRPr>
            </a:lvl2pPr>
            <a:lvl3pPr marL="914400" indent="0" algn="l" defTabSz="914400" rtl="0" eaLnBrk="1" latinLnBrk="0" hangingPunct="1">
              <a:lnSpc>
                <a:spcPct val="150000"/>
              </a:lnSpc>
              <a:spcBef>
                <a:spcPts val="500"/>
              </a:spcBef>
              <a:buFont typeface="Arial" panose="020B0604020202020204" pitchFamily="34" charset="0"/>
              <a:buNone/>
              <a:defRPr sz="1800" kern="1200">
                <a:solidFill>
                  <a:schemeClr val="tx2">
                    <a:lumMod val="50000"/>
                  </a:schemeClr>
                </a:solidFill>
                <a:latin typeface="+mn-lt"/>
                <a:ea typeface="+mn-ea"/>
                <a:cs typeface="+mn-cs"/>
              </a:defRPr>
            </a:lvl3pPr>
            <a:lvl4pPr marL="1371600" indent="0" algn="l" defTabSz="914400" rtl="0" eaLnBrk="1" latinLnBrk="0" hangingPunct="1">
              <a:lnSpc>
                <a:spcPct val="150000"/>
              </a:lnSpc>
              <a:spcBef>
                <a:spcPts val="500"/>
              </a:spcBef>
              <a:buFont typeface="Arial" panose="020B0604020202020204" pitchFamily="34" charset="0"/>
              <a:buNone/>
              <a:defRPr sz="1600" kern="1200">
                <a:solidFill>
                  <a:schemeClr val="tx2">
                    <a:lumMod val="50000"/>
                  </a:schemeClr>
                </a:solidFill>
                <a:latin typeface="+mn-lt"/>
                <a:ea typeface="+mn-ea"/>
                <a:cs typeface="+mn-cs"/>
              </a:defRPr>
            </a:lvl4pPr>
            <a:lvl5pPr marL="1828800" indent="0" algn="l" defTabSz="914400" rtl="0" eaLnBrk="1" latinLnBrk="0" hangingPunct="1">
              <a:lnSpc>
                <a:spcPct val="150000"/>
              </a:lnSpc>
              <a:spcBef>
                <a:spcPts val="500"/>
              </a:spcBef>
              <a:buFont typeface="Arial" panose="020B0604020202020204" pitchFamily="34" charset="0"/>
              <a:buNone/>
              <a:defRPr sz="1600" kern="1200">
                <a:solidFill>
                  <a:schemeClr val="tx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dirty="0"/>
          </a:p>
        </p:txBody>
      </p:sp>
      <p:pic>
        <p:nvPicPr>
          <p:cNvPr id="29" name="Picture 28">
            <a:extLst>
              <a:ext uri="{FF2B5EF4-FFF2-40B4-BE49-F238E27FC236}">
                <a16:creationId xmlns:a16="http://schemas.microsoft.com/office/drawing/2014/main" id="{EFDF1180-A8DA-9BC5-3609-BDC53A0ECB2E}"/>
              </a:ext>
            </a:extLst>
          </p:cNvPr>
          <p:cNvPicPr>
            <a:picLocks noChangeAspect="1"/>
          </p:cNvPicPr>
          <p:nvPr/>
        </p:nvPicPr>
        <p:blipFill>
          <a:blip r:embed="rId8" cstate="print">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509157" y="4224324"/>
            <a:ext cx="1055356" cy="1061994"/>
          </a:xfrm>
          <a:prstGeom prst="rect">
            <a:avLst/>
          </a:prstGeom>
        </p:spPr>
      </p:pic>
      <p:sp>
        <p:nvSpPr>
          <p:cNvPr id="10" name="Rectangle 5">
            <a:extLst>
              <a:ext uri="{FF2B5EF4-FFF2-40B4-BE49-F238E27FC236}">
                <a16:creationId xmlns:a16="http://schemas.microsoft.com/office/drawing/2014/main" id="{FC1E6B17-27B6-F654-A1DE-CC9185B6A7D4}"/>
              </a:ext>
            </a:extLst>
          </p:cNvPr>
          <p:cNvSpPr>
            <a:spLocks noChangeArrowheads="1"/>
          </p:cNvSpPr>
          <p:nvPr/>
        </p:nvSpPr>
        <p:spPr bwMode="auto">
          <a:xfrm>
            <a:off x="1564513" y="2974581"/>
            <a:ext cx="9385736" cy="561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lnSpc>
                <a:spcPct val="20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13" name="TextBox 12">
            <a:extLst>
              <a:ext uri="{FF2B5EF4-FFF2-40B4-BE49-F238E27FC236}">
                <a16:creationId xmlns:a16="http://schemas.microsoft.com/office/drawing/2014/main" id="{ECDF2FD5-1D22-2382-F160-ABFFC256443F}"/>
              </a:ext>
            </a:extLst>
          </p:cNvPr>
          <p:cNvSpPr txBox="1"/>
          <p:nvPr/>
        </p:nvSpPr>
        <p:spPr>
          <a:xfrm>
            <a:off x="1762538" y="2286788"/>
            <a:ext cx="8864949" cy="2957861"/>
          </a:xfrm>
          <a:prstGeom prst="rect">
            <a:avLst/>
          </a:prstGeom>
          <a:noFill/>
        </p:spPr>
        <p:txBody>
          <a:bodyPr wrap="square" rtlCol="0">
            <a:spAutoFit/>
          </a:bodyPr>
          <a:lstStyle/>
          <a:p>
            <a:pPr lvl="0" algn="just" defTabSz="914400" eaLnBrk="0" fontAlgn="base" hangingPunct="0">
              <a:lnSpc>
                <a:spcPct val="150000"/>
              </a:lnSpc>
              <a:spcBef>
                <a:spcPct val="0"/>
              </a:spcBef>
              <a:spcAft>
                <a:spcPct val="0"/>
              </a:spcAft>
              <a:buFontTx/>
              <a:buChar char="•"/>
            </a:pPr>
            <a:r>
              <a:rPr lang="en-US" altLang="en-US" dirty="0">
                <a:latin typeface="Arial" panose="020B0604020202020204" pitchFamily="34" charset="0"/>
              </a:rPr>
              <a:t>To design and implement a smart home automation system using ESP32 and IoT technology.</a:t>
            </a:r>
          </a:p>
          <a:p>
            <a:pPr lvl="0" algn="just" defTabSz="914400" eaLnBrk="0" fontAlgn="base" hangingPunct="0">
              <a:lnSpc>
                <a:spcPct val="150000"/>
              </a:lnSpc>
              <a:spcBef>
                <a:spcPct val="0"/>
              </a:spcBef>
              <a:spcAft>
                <a:spcPct val="0"/>
              </a:spcAft>
              <a:buFontTx/>
              <a:buChar char="•"/>
            </a:pPr>
            <a:r>
              <a:rPr lang="en-US" altLang="en-US" dirty="0">
                <a:latin typeface="Arial" panose="020B0604020202020204" pitchFamily="34" charset="0"/>
              </a:rPr>
              <a:t>To remotely control home appliances like lights, fan through internet connectivity.</a:t>
            </a:r>
          </a:p>
          <a:p>
            <a:pPr lvl="0" algn="just" defTabSz="914400" eaLnBrk="0" fontAlgn="base" hangingPunct="0">
              <a:lnSpc>
                <a:spcPct val="150000"/>
              </a:lnSpc>
              <a:spcBef>
                <a:spcPct val="0"/>
              </a:spcBef>
              <a:spcAft>
                <a:spcPct val="0"/>
              </a:spcAft>
              <a:buFontTx/>
              <a:buChar char="•"/>
            </a:pPr>
            <a:r>
              <a:rPr lang="en-US" altLang="en-US" dirty="0">
                <a:latin typeface="Arial" panose="020B0604020202020204" pitchFamily="34" charset="0"/>
              </a:rPr>
              <a:t>To enable real-time communication between devices using MQTT protocol and Wii.</a:t>
            </a:r>
          </a:p>
          <a:p>
            <a:pPr lvl="0" algn="just" defTabSz="914400" eaLnBrk="0" fontAlgn="base" hangingPunct="0">
              <a:lnSpc>
                <a:spcPct val="150000"/>
              </a:lnSpc>
              <a:spcBef>
                <a:spcPct val="0"/>
              </a:spcBef>
              <a:spcAft>
                <a:spcPct val="0"/>
              </a:spcAft>
              <a:buFontTx/>
              <a:buChar char="•"/>
            </a:pPr>
            <a:r>
              <a:rPr lang="en-US" altLang="en-US" dirty="0">
                <a:latin typeface="Arial" panose="020B0604020202020204" pitchFamily="34" charset="0"/>
              </a:rPr>
              <a:t>To improve convenience and reduce manual effort in operating home appliances.</a:t>
            </a:r>
          </a:p>
          <a:p>
            <a:pPr lvl="0" algn="just" defTabSz="914400" eaLnBrk="0" fontAlgn="base" hangingPunct="0">
              <a:lnSpc>
                <a:spcPct val="150000"/>
              </a:lnSpc>
              <a:spcBef>
                <a:spcPct val="0"/>
              </a:spcBef>
              <a:spcAft>
                <a:spcPct val="0"/>
              </a:spcAft>
              <a:buFontTx/>
              <a:buChar char="•"/>
            </a:pPr>
            <a:r>
              <a:rPr lang="en-US" altLang="en-US" dirty="0">
                <a:latin typeface="Arial" panose="020B0604020202020204" pitchFamily="34" charset="0"/>
              </a:rPr>
              <a:t>To develop a low-cost, energy-efficient, and secure home automation system.</a:t>
            </a:r>
          </a:p>
          <a:p>
            <a:pPr algn="just">
              <a:lnSpc>
                <a:spcPct val="150000"/>
              </a:lnSpc>
            </a:pPr>
            <a:endParaRPr lang="en-US" dirty="0"/>
          </a:p>
        </p:txBody>
      </p:sp>
    </p:spTree>
    <p:extLst>
      <p:ext uri="{BB962C8B-B14F-4D97-AF65-F5344CB8AC3E}">
        <p14:creationId xmlns:p14="http://schemas.microsoft.com/office/powerpoint/2010/main" val="1388607984"/>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17">
            <a:extLst>
              <a:ext uri="{FF2B5EF4-FFF2-40B4-BE49-F238E27FC236}">
                <a16:creationId xmlns:a16="http://schemas.microsoft.com/office/drawing/2014/main" id="{7F3AABB0-F8BA-C900-B6BF-45F4B58E9490}"/>
              </a:ext>
            </a:extLst>
          </p:cNvPr>
          <p:cNvSpPr/>
          <p:nvPr/>
        </p:nvSpPr>
        <p:spPr>
          <a:xfrm>
            <a:off x="4052630" y="429977"/>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Problem Statement</a:t>
            </a:r>
            <a:endParaRPr lang="en-US" sz="2400" dirty="0">
              <a:latin typeface="Agency FB" panose="020B0503020202020204" pitchFamily="34" charset="0"/>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7334" y="820675"/>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277600" y="452853"/>
            <a:ext cx="914400" cy="914400"/>
          </a:xfrm>
          <a:prstGeom prst="rect">
            <a:avLst/>
          </a:prstGeom>
        </p:spPr>
      </p:pic>
      <p:pic>
        <p:nvPicPr>
          <p:cNvPr id="12" name="Picture 2" descr="KL Deemed to be University Logo"/>
          <p:cNvPicPr>
            <a:picLocks noChangeAspect="1" noChangeArrowheads="1"/>
          </p:cNvPicPr>
          <p:nvPr/>
        </p:nvPicPr>
        <p:blipFill>
          <a:blip r:embed="rId6"/>
          <a:srcRect/>
          <a:stretch>
            <a:fillRect/>
          </a:stretch>
        </p:blipFill>
        <p:spPr bwMode="auto">
          <a:xfrm>
            <a:off x="197974" y="152815"/>
            <a:ext cx="1990725" cy="600076"/>
          </a:xfrm>
          <a:prstGeom prst="rect">
            <a:avLst/>
          </a:prstGeom>
          <a:noFill/>
        </p:spPr>
      </p:pic>
      <p:pic>
        <p:nvPicPr>
          <p:cNvPr id="6" name="Picture 5">
            <a:extLst>
              <a:ext uri="{FF2B5EF4-FFF2-40B4-BE49-F238E27FC236}">
                <a16:creationId xmlns:a16="http://schemas.microsoft.com/office/drawing/2014/main" id="{0BBB7335-B363-2010-15DF-274D9FE5DCF1}"/>
              </a:ext>
            </a:extLst>
          </p:cNvPr>
          <p:cNvPicPr>
            <a:picLocks noChangeAspect="1"/>
          </p:cNvPicPr>
          <p:nvPr/>
        </p:nvPicPr>
        <p:blipFill>
          <a:blip r:embed="rId7" cstate="print">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197974" y="5170680"/>
            <a:ext cx="1055356" cy="1061994"/>
          </a:xfrm>
          <a:prstGeom prst="rect">
            <a:avLst/>
          </a:prstGeom>
        </p:spPr>
      </p:pic>
      <p:sp>
        <p:nvSpPr>
          <p:cNvPr id="3" name="Rectangle 1">
            <a:extLst>
              <a:ext uri="{FF2B5EF4-FFF2-40B4-BE49-F238E27FC236}">
                <a16:creationId xmlns:a16="http://schemas.microsoft.com/office/drawing/2014/main" id="{39ECAE0B-B3B4-1B56-54AB-4D5A7BCBD372}"/>
              </a:ext>
            </a:extLst>
          </p:cNvPr>
          <p:cNvSpPr>
            <a:spLocks noChangeArrowheads="1"/>
          </p:cNvSpPr>
          <p:nvPr/>
        </p:nvSpPr>
        <p:spPr bwMode="auto">
          <a:xfrm rot="10800000" flipV="1">
            <a:off x="1884741" y="2411501"/>
            <a:ext cx="8422518"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sz="2000" dirty="0"/>
              <a:t>In our daily life, home appliances like lights, fans, and doors are controlled manually using switches. This can be inconvenient and may lead to energy wastage when devices are left ON unnecessarily.</a:t>
            </a:r>
          </a:p>
          <a:p>
            <a:pPr algn="just"/>
            <a:endParaRPr lang="en-IN" sz="2000" dirty="0"/>
          </a:p>
          <a:p>
            <a:pPr algn="just"/>
            <a:r>
              <a:rPr lang="en-IN" sz="2000" dirty="0"/>
              <a:t>So, there is a need to develop a smart system that allows users to control and monitor home appliances remotely through the internet. This project aims to create a simple, low-cost smart home automation system using ESP32 and IoT technology for easy and efficient control of home devices.</a:t>
            </a:r>
          </a:p>
        </p:txBody>
      </p:sp>
    </p:spTree>
    <p:extLst>
      <p:ext uri="{BB962C8B-B14F-4D97-AF65-F5344CB8AC3E}">
        <p14:creationId xmlns:p14="http://schemas.microsoft.com/office/powerpoint/2010/main" val="189169549"/>
      </p:ext>
    </p:extLst>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7227" y="1463818"/>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92798" y="1249628"/>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111687" y="957299"/>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Hardware &amp; Software Tools</a:t>
            </a:r>
            <a:endParaRPr lang="en-US" sz="2400" dirty="0">
              <a:latin typeface="Agency FB" panose="020B0503020202020204" pitchFamily="34" charset="0"/>
            </a:endParaRPr>
          </a:p>
        </p:txBody>
      </p:sp>
      <p:pic>
        <p:nvPicPr>
          <p:cNvPr id="12" name="Picture 2" descr="KL Deemed to be University Logo"/>
          <p:cNvPicPr>
            <a:picLocks noChangeAspect="1" noChangeArrowheads="1"/>
          </p:cNvPicPr>
          <p:nvPr/>
        </p:nvPicPr>
        <p:blipFill>
          <a:blip r:embed="rId6"/>
          <a:srcRect/>
          <a:stretch>
            <a:fillRect/>
          </a:stretch>
        </p:blipFill>
        <p:spPr bwMode="auto">
          <a:xfrm>
            <a:off x="193287" y="265471"/>
            <a:ext cx="1990725" cy="600076"/>
          </a:xfrm>
          <a:prstGeom prst="rect">
            <a:avLst/>
          </a:prstGeom>
          <a:noFill/>
        </p:spPr>
      </p:pic>
      <p:pic>
        <p:nvPicPr>
          <p:cNvPr id="2" name="Picture 1">
            <a:extLst>
              <a:ext uri="{FF2B5EF4-FFF2-40B4-BE49-F238E27FC236}">
                <a16:creationId xmlns:a16="http://schemas.microsoft.com/office/drawing/2014/main" id="{11C05DA6-F906-58A0-B783-9F6EBCD019AF}"/>
              </a:ext>
            </a:extLst>
          </p:cNvPr>
          <p:cNvPicPr>
            <a:picLocks noChangeAspect="1"/>
          </p:cNvPicPr>
          <p:nvPr/>
        </p:nvPicPr>
        <p:blipFill>
          <a:blip r:embed="rId7" cstate="print">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60971" y="4405930"/>
            <a:ext cx="1055356" cy="1061994"/>
          </a:xfrm>
          <a:prstGeom prst="rect">
            <a:avLst/>
          </a:prstGeom>
        </p:spPr>
      </p:pic>
      <p:sp>
        <p:nvSpPr>
          <p:cNvPr id="4" name="Rectangle 1">
            <a:extLst>
              <a:ext uri="{FF2B5EF4-FFF2-40B4-BE49-F238E27FC236}">
                <a16:creationId xmlns:a16="http://schemas.microsoft.com/office/drawing/2014/main" id="{DCE4D1C9-D307-D994-02C3-EC7ED8412258}"/>
              </a:ext>
            </a:extLst>
          </p:cNvPr>
          <p:cNvSpPr>
            <a:spLocks noChangeArrowheads="1"/>
          </p:cNvSpPr>
          <p:nvPr/>
        </p:nvSpPr>
        <p:spPr bwMode="auto">
          <a:xfrm>
            <a:off x="147484" y="80805"/>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70E59BFF-609C-2B61-B383-459A8A6E814F}"/>
              </a:ext>
            </a:extLst>
          </p:cNvPr>
          <p:cNvSpPr txBox="1"/>
          <p:nvPr/>
        </p:nvSpPr>
        <p:spPr>
          <a:xfrm>
            <a:off x="2268800" y="2077872"/>
            <a:ext cx="4379674" cy="3170099"/>
          </a:xfrm>
          <a:prstGeom prst="rect">
            <a:avLst/>
          </a:prstGeom>
          <a:noFill/>
        </p:spPr>
        <p:txBody>
          <a:bodyPr wrap="square" rtlCol="0">
            <a:spAutoFit/>
          </a:bodyPr>
          <a:lstStyle/>
          <a:p>
            <a:r>
              <a:rPr lang="en-IN" sz="2000" b="1" dirty="0"/>
              <a:t>Hardware Components:</a:t>
            </a:r>
          </a:p>
          <a:p>
            <a:pPr marL="285750" indent="-285750">
              <a:buFont typeface="Arial" panose="020B0604020202020204" pitchFamily="34" charset="0"/>
              <a:buChar char="•"/>
            </a:pPr>
            <a:r>
              <a:rPr lang="en-IN" sz="2000" dirty="0"/>
              <a:t>ESP32 microcontroller</a:t>
            </a:r>
          </a:p>
          <a:p>
            <a:pPr marL="285750" indent="-285750">
              <a:buFont typeface="Arial" panose="020B0604020202020204" pitchFamily="34" charset="0"/>
              <a:buChar char="•"/>
            </a:pPr>
            <a:r>
              <a:rPr lang="en-IN" sz="2000" dirty="0"/>
              <a:t>4-channel relay module</a:t>
            </a:r>
          </a:p>
          <a:p>
            <a:pPr marL="285750" indent="-285750">
              <a:buFont typeface="Arial" panose="020B0604020202020204" pitchFamily="34" charset="0"/>
              <a:buChar char="•"/>
            </a:pPr>
            <a:r>
              <a:rPr lang="en-IN" sz="2000" dirty="0"/>
              <a:t>Light bulbs (bedroom and hall)</a:t>
            </a:r>
          </a:p>
          <a:p>
            <a:pPr marL="285750" indent="-285750">
              <a:buFont typeface="Arial" panose="020B0604020202020204" pitchFamily="34" charset="0"/>
              <a:buChar char="•"/>
            </a:pPr>
            <a:r>
              <a:rPr lang="en-IN" sz="2000" dirty="0"/>
              <a:t>Fan / DC motor</a:t>
            </a:r>
          </a:p>
          <a:p>
            <a:pPr marL="285750" indent="-285750">
              <a:buFont typeface="Arial" panose="020B0604020202020204" pitchFamily="34" charset="0"/>
              <a:buChar char="•"/>
            </a:pPr>
            <a:r>
              <a:rPr lang="en-IN" sz="2000" dirty="0"/>
              <a:t>Door lock / motor</a:t>
            </a:r>
          </a:p>
          <a:p>
            <a:pPr marL="285750" indent="-285750">
              <a:buFont typeface="Arial" panose="020B0604020202020204" pitchFamily="34" charset="0"/>
              <a:buChar char="•"/>
            </a:pPr>
            <a:r>
              <a:rPr lang="en-IN" sz="2000" dirty="0"/>
              <a:t>Power supply</a:t>
            </a:r>
          </a:p>
          <a:p>
            <a:pPr marL="285750" indent="-285750">
              <a:buFont typeface="Arial" panose="020B0604020202020204" pitchFamily="34" charset="0"/>
              <a:buChar char="•"/>
            </a:pPr>
            <a:r>
              <a:rPr lang="en-IN" sz="2000" dirty="0"/>
              <a:t>Jumper wires</a:t>
            </a:r>
          </a:p>
          <a:p>
            <a:pPr marL="285750" indent="-285750">
              <a:buFont typeface="Arial" panose="020B0604020202020204" pitchFamily="34" charset="0"/>
              <a:buChar char="•"/>
            </a:pPr>
            <a:r>
              <a:rPr lang="en-IN" sz="2000" dirty="0"/>
              <a:t>Breadboard (optional)</a:t>
            </a:r>
          </a:p>
          <a:p>
            <a:pPr marL="285750" indent="-285750">
              <a:buFont typeface="Arial" panose="020B0604020202020204" pitchFamily="34" charset="0"/>
              <a:buChar char="•"/>
            </a:pPr>
            <a:r>
              <a:rPr lang="en-IN" sz="2000" dirty="0" err="1"/>
              <a:t>WiFi</a:t>
            </a:r>
            <a:r>
              <a:rPr lang="en-IN" sz="2000" dirty="0"/>
              <a:t> router / internet connection</a:t>
            </a:r>
          </a:p>
        </p:txBody>
      </p:sp>
      <p:sp>
        <p:nvSpPr>
          <p:cNvPr id="8" name="TextBox 7">
            <a:extLst>
              <a:ext uri="{FF2B5EF4-FFF2-40B4-BE49-F238E27FC236}">
                <a16:creationId xmlns:a16="http://schemas.microsoft.com/office/drawing/2014/main" id="{35522EC4-7C57-B37A-EAA4-34905D760923}"/>
              </a:ext>
            </a:extLst>
          </p:cNvPr>
          <p:cNvSpPr txBox="1"/>
          <p:nvPr/>
        </p:nvSpPr>
        <p:spPr>
          <a:xfrm>
            <a:off x="6905647" y="2077872"/>
            <a:ext cx="4144351" cy="2616101"/>
          </a:xfrm>
          <a:prstGeom prst="rect">
            <a:avLst/>
          </a:prstGeom>
          <a:noFill/>
        </p:spPr>
        <p:txBody>
          <a:bodyPr wrap="square" rtlCol="0">
            <a:spAutoFit/>
          </a:bodyPr>
          <a:lstStyle/>
          <a:p>
            <a:r>
              <a:rPr lang="en-IN" sz="2000" b="1" dirty="0"/>
              <a:t>Software Requirements:</a:t>
            </a:r>
          </a:p>
          <a:p>
            <a:pPr marL="285750" indent="-285750">
              <a:buFont typeface="Arial" panose="020B0604020202020204" pitchFamily="34" charset="0"/>
              <a:buChar char="•"/>
            </a:pPr>
            <a:r>
              <a:rPr lang="en-IN" sz="2000" dirty="0"/>
              <a:t>Arduino IDE</a:t>
            </a:r>
          </a:p>
          <a:p>
            <a:pPr marL="285750" indent="-285750">
              <a:buFont typeface="Arial" panose="020B0604020202020204" pitchFamily="34" charset="0"/>
              <a:buChar char="•"/>
            </a:pPr>
            <a:r>
              <a:rPr lang="en-IN" sz="2000" dirty="0"/>
              <a:t>ESP32 Board Package</a:t>
            </a:r>
          </a:p>
          <a:p>
            <a:pPr marL="285750" indent="-285750">
              <a:buFont typeface="Arial" panose="020B0604020202020204" pitchFamily="34" charset="0"/>
              <a:buChar char="•"/>
            </a:pPr>
            <a:r>
              <a:rPr lang="en-IN" sz="2000" dirty="0" err="1"/>
              <a:t>PubSubClient</a:t>
            </a:r>
            <a:r>
              <a:rPr lang="en-IN" sz="2000" dirty="0"/>
              <a:t> (MQTT library)</a:t>
            </a:r>
          </a:p>
          <a:p>
            <a:pPr marL="285750" indent="-285750">
              <a:buFont typeface="Arial" panose="020B0604020202020204" pitchFamily="34" charset="0"/>
              <a:buChar char="•"/>
            </a:pPr>
            <a:r>
              <a:rPr lang="en-IN" sz="2000" dirty="0" err="1"/>
              <a:t>WiFi</a:t>
            </a:r>
            <a:r>
              <a:rPr lang="en-IN" sz="2000" dirty="0"/>
              <a:t> Library</a:t>
            </a:r>
          </a:p>
          <a:p>
            <a:pPr marL="285750" indent="-285750">
              <a:buFont typeface="Arial" panose="020B0604020202020204" pitchFamily="34" charset="0"/>
              <a:buChar char="•"/>
            </a:pPr>
            <a:r>
              <a:rPr lang="en-IN" sz="2000" dirty="0" err="1"/>
              <a:t>HiveMQ</a:t>
            </a:r>
            <a:r>
              <a:rPr lang="en-IN" sz="2000" dirty="0"/>
              <a:t> Cloud (MQTT broker)</a:t>
            </a:r>
          </a:p>
          <a:p>
            <a:pPr marL="285750" indent="-285750">
              <a:buFont typeface="Arial" panose="020B0604020202020204" pitchFamily="34" charset="0"/>
              <a:buChar char="•"/>
            </a:pPr>
            <a:r>
              <a:rPr lang="en-IN" sz="2000" dirty="0"/>
              <a:t>Mobile app (for control)</a:t>
            </a:r>
          </a:p>
          <a:p>
            <a:endParaRPr lang="en-US" sz="2000" dirty="0"/>
          </a:p>
        </p:txBody>
      </p:sp>
    </p:spTree>
    <p:extLst>
      <p:ext uri="{BB962C8B-B14F-4D97-AF65-F5344CB8AC3E}">
        <p14:creationId xmlns:p14="http://schemas.microsoft.com/office/powerpoint/2010/main" val="24993962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872261" y="600076"/>
            <a:ext cx="4007404"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Block Diagram</a:t>
            </a:r>
            <a:endParaRPr lang="en-US" sz="2400" dirty="0">
              <a:latin typeface="Agency FB" panose="020B0503020202020204" pitchFamily="34" charset="0"/>
            </a:endParaRPr>
          </a:p>
        </p:txBody>
      </p:sp>
      <p:pic>
        <p:nvPicPr>
          <p:cNvPr id="17" name="Picture 2" descr="KL Deemed to be University Logo"/>
          <p:cNvPicPr>
            <a:picLocks noChangeAspect="1" noChangeArrowheads="1"/>
          </p:cNvPicPr>
          <p:nvPr/>
        </p:nvPicPr>
        <p:blipFill>
          <a:blip r:embed="rId2"/>
          <a:srcRect/>
          <a:stretch>
            <a:fillRect/>
          </a:stretch>
        </p:blipFill>
        <p:spPr bwMode="auto">
          <a:xfrm>
            <a:off x="132080" y="193040"/>
            <a:ext cx="1990725" cy="600076"/>
          </a:xfrm>
          <a:prstGeom prst="rect">
            <a:avLst/>
          </a:prstGeom>
          <a:noFill/>
        </p:spPr>
      </p:pic>
      <p:pic>
        <p:nvPicPr>
          <p:cNvPr id="5" name="Picture 4">
            <a:extLst>
              <a:ext uri="{FF2B5EF4-FFF2-40B4-BE49-F238E27FC236}">
                <a16:creationId xmlns:a16="http://schemas.microsoft.com/office/drawing/2014/main" id="{6F48CEEA-78F0-CF85-E711-20D0C1D5D317}"/>
              </a:ext>
            </a:extLst>
          </p:cNvPr>
          <p:cNvPicPr>
            <a:picLocks noChangeAspect="1"/>
          </p:cNvPicPr>
          <p:nvPr/>
        </p:nvPicPr>
        <p:blipFill>
          <a:blip r:embed="rId3"/>
          <a:stretch>
            <a:fillRect/>
          </a:stretch>
        </p:blipFill>
        <p:spPr>
          <a:xfrm>
            <a:off x="1709683" y="1793984"/>
            <a:ext cx="7875452" cy="4291506"/>
          </a:xfrm>
          <a:prstGeom prst="rect">
            <a:avLst/>
          </a:prstGeom>
        </p:spPr>
      </p:pic>
    </p:spTree>
    <p:extLst>
      <p:ext uri="{BB962C8B-B14F-4D97-AF65-F5344CB8AC3E}">
        <p14:creationId xmlns:p14="http://schemas.microsoft.com/office/powerpoint/2010/main" val="2377937275"/>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4125651" y="600076"/>
            <a:ext cx="3376361"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t>Methodology / Working</a:t>
            </a:r>
            <a:endParaRPr lang="en-US" sz="1600" dirty="0">
              <a:latin typeface="Agency FB" panose="020B0503020202020204" pitchFamily="34" charset="0"/>
            </a:endParaRPr>
          </a:p>
        </p:txBody>
      </p:sp>
      <p:pic>
        <p:nvPicPr>
          <p:cNvPr id="17" name="Picture 2" descr="KL Deemed to be University Logo"/>
          <p:cNvPicPr>
            <a:picLocks noChangeAspect="1" noChangeArrowheads="1"/>
          </p:cNvPicPr>
          <p:nvPr/>
        </p:nvPicPr>
        <p:blipFill>
          <a:blip r:embed="rId3"/>
          <a:srcRect/>
          <a:stretch>
            <a:fillRect/>
          </a:stretch>
        </p:blipFill>
        <p:spPr bwMode="auto">
          <a:xfrm>
            <a:off x="142240" y="205560"/>
            <a:ext cx="1990725" cy="600076"/>
          </a:xfrm>
          <a:prstGeom prst="rect">
            <a:avLst/>
          </a:prstGeom>
          <a:noFill/>
        </p:spPr>
      </p:pic>
      <p:sp>
        <p:nvSpPr>
          <p:cNvPr id="2" name="Text 0">
            <a:extLst>
              <a:ext uri="{FF2B5EF4-FFF2-40B4-BE49-F238E27FC236}">
                <a16:creationId xmlns:a16="http://schemas.microsoft.com/office/drawing/2014/main" id="{ECB9E9C0-E14C-CC4D-2275-467699CF828F}"/>
              </a:ext>
            </a:extLst>
          </p:cNvPr>
          <p:cNvSpPr/>
          <p:nvPr/>
        </p:nvSpPr>
        <p:spPr>
          <a:xfrm>
            <a:off x="793790" y="659249"/>
            <a:ext cx="4252913" cy="531614"/>
          </a:xfrm>
          <a:prstGeom prst="rect">
            <a:avLst/>
          </a:prstGeom>
          <a:noFill/>
          <a:ln/>
        </p:spPr>
        <p:txBody>
          <a:bodyPr wrap="none" lIns="0" tIns="0" rIns="0" bIns="0" rtlCol="0" anchor="t"/>
          <a:lstStyle/>
          <a:p>
            <a:pPr marL="0" indent="0" algn="l">
              <a:lnSpc>
                <a:spcPts val="4150"/>
              </a:lnSpc>
              <a:buNone/>
            </a:pPr>
            <a:endParaRPr lang="en-US" sz="1600" dirty="0"/>
          </a:p>
        </p:txBody>
      </p:sp>
      <p:pic>
        <p:nvPicPr>
          <p:cNvPr id="3" name="Image 0" descr="preencoded.png">
            <a:extLst>
              <a:ext uri="{FF2B5EF4-FFF2-40B4-BE49-F238E27FC236}">
                <a16:creationId xmlns:a16="http://schemas.microsoft.com/office/drawing/2014/main" id="{2CF88CFA-0DFA-211A-91E2-BB6845916CFE}"/>
              </a:ext>
            </a:extLst>
          </p:cNvPr>
          <p:cNvPicPr>
            <a:picLocks noChangeAspect="1"/>
          </p:cNvPicPr>
          <p:nvPr/>
        </p:nvPicPr>
        <p:blipFill>
          <a:blip r:embed="rId4"/>
          <a:stretch>
            <a:fillRect/>
          </a:stretch>
        </p:blipFill>
        <p:spPr>
          <a:xfrm>
            <a:off x="793790" y="1446014"/>
            <a:ext cx="850583" cy="1020723"/>
          </a:xfrm>
          <a:prstGeom prst="rect">
            <a:avLst/>
          </a:prstGeom>
        </p:spPr>
      </p:pic>
      <p:sp>
        <p:nvSpPr>
          <p:cNvPr id="6" name="Text 1">
            <a:extLst>
              <a:ext uri="{FF2B5EF4-FFF2-40B4-BE49-F238E27FC236}">
                <a16:creationId xmlns:a16="http://schemas.microsoft.com/office/drawing/2014/main" id="{42E81750-DFDC-B654-85C7-AC7DF30BEBC8}"/>
              </a:ext>
            </a:extLst>
          </p:cNvPr>
          <p:cNvSpPr/>
          <p:nvPr/>
        </p:nvSpPr>
        <p:spPr>
          <a:xfrm>
            <a:off x="1771888" y="1616035"/>
            <a:ext cx="2126456" cy="265747"/>
          </a:xfrm>
          <a:prstGeom prst="rect">
            <a:avLst/>
          </a:prstGeom>
          <a:noFill/>
          <a:ln/>
        </p:spPr>
        <p:txBody>
          <a:bodyPr wrap="none" lIns="0" tIns="0" rIns="0" bIns="0" rtlCol="0" anchor="t"/>
          <a:lstStyle/>
          <a:p>
            <a:pPr>
              <a:lnSpc>
                <a:spcPts val="2050"/>
              </a:lnSpc>
            </a:pPr>
            <a:r>
              <a:rPr lang="en-IN" sz="1600" b="1" dirty="0"/>
              <a:t>Initialization &amp; Connection:</a:t>
            </a:r>
            <a:endParaRPr lang="en-US" sz="1600" b="1" dirty="0"/>
          </a:p>
        </p:txBody>
      </p:sp>
      <p:sp>
        <p:nvSpPr>
          <p:cNvPr id="7" name="Text 2">
            <a:extLst>
              <a:ext uri="{FF2B5EF4-FFF2-40B4-BE49-F238E27FC236}">
                <a16:creationId xmlns:a16="http://schemas.microsoft.com/office/drawing/2014/main" id="{BD3F182E-E1E4-6A1F-25D1-DF0D7B2539CE}"/>
              </a:ext>
            </a:extLst>
          </p:cNvPr>
          <p:cNvSpPr/>
          <p:nvPr/>
        </p:nvSpPr>
        <p:spPr>
          <a:xfrm>
            <a:off x="1771888" y="1958221"/>
            <a:ext cx="12064722" cy="238125"/>
          </a:xfrm>
          <a:prstGeom prst="rect">
            <a:avLst/>
          </a:prstGeom>
          <a:noFill/>
          <a:ln/>
        </p:spPr>
        <p:txBody>
          <a:bodyPr wrap="none" lIns="0" tIns="0" rIns="0" bIns="0" rtlCol="0" anchor="t"/>
          <a:lstStyle/>
          <a:p>
            <a:pPr>
              <a:lnSpc>
                <a:spcPts val="1850"/>
              </a:lnSpc>
            </a:pPr>
            <a:r>
              <a:rPr lang="en-IN" sz="1600" dirty="0"/>
              <a:t>The ESP32 connects to local </a:t>
            </a:r>
            <a:r>
              <a:rPr lang="en-IN" sz="1600" dirty="0" err="1"/>
              <a:t>WiFi</a:t>
            </a:r>
            <a:r>
              <a:rPr lang="en-IN" sz="1600" dirty="0"/>
              <a:t> and establishes a secure connection with the </a:t>
            </a:r>
            <a:r>
              <a:rPr lang="en-IN" sz="1600" dirty="0" err="1"/>
              <a:t>HiveMQ</a:t>
            </a:r>
            <a:r>
              <a:rPr lang="en-IN" sz="1600" dirty="0"/>
              <a:t> Cloud MQTT broker.</a:t>
            </a:r>
            <a:endParaRPr lang="en-US" sz="1600" dirty="0"/>
          </a:p>
        </p:txBody>
      </p:sp>
      <p:pic>
        <p:nvPicPr>
          <p:cNvPr id="8" name="Image 1" descr="preencoded.png">
            <a:extLst>
              <a:ext uri="{FF2B5EF4-FFF2-40B4-BE49-F238E27FC236}">
                <a16:creationId xmlns:a16="http://schemas.microsoft.com/office/drawing/2014/main" id="{204B35B5-F330-AD16-6DF5-F0ED657483D6}"/>
              </a:ext>
            </a:extLst>
          </p:cNvPr>
          <p:cNvPicPr>
            <a:picLocks noChangeAspect="1"/>
          </p:cNvPicPr>
          <p:nvPr/>
        </p:nvPicPr>
        <p:blipFill>
          <a:blip r:embed="rId5"/>
          <a:stretch>
            <a:fillRect/>
          </a:stretch>
        </p:blipFill>
        <p:spPr>
          <a:xfrm>
            <a:off x="793790" y="2466737"/>
            <a:ext cx="850583" cy="1020723"/>
          </a:xfrm>
          <a:prstGeom prst="rect">
            <a:avLst/>
          </a:prstGeom>
        </p:spPr>
      </p:pic>
      <p:sp>
        <p:nvSpPr>
          <p:cNvPr id="9" name="Text 3">
            <a:extLst>
              <a:ext uri="{FF2B5EF4-FFF2-40B4-BE49-F238E27FC236}">
                <a16:creationId xmlns:a16="http://schemas.microsoft.com/office/drawing/2014/main" id="{5E01C5B7-6480-03C2-AAEF-42398235E57B}"/>
              </a:ext>
            </a:extLst>
          </p:cNvPr>
          <p:cNvSpPr/>
          <p:nvPr/>
        </p:nvSpPr>
        <p:spPr>
          <a:xfrm>
            <a:off x="1771888" y="2636758"/>
            <a:ext cx="2126456" cy="265747"/>
          </a:xfrm>
          <a:prstGeom prst="rect">
            <a:avLst/>
          </a:prstGeom>
          <a:noFill/>
          <a:ln/>
        </p:spPr>
        <p:txBody>
          <a:bodyPr wrap="none" lIns="0" tIns="0" rIns="0" bIns="0" rtlCol="0" anchor="t"/>
          <a:lstStyle/>
          <a:p>
            <a:pPr>
              <a:lnSpc>
                <a:spcPts val="2050"/>
              </a:lnSpc>
            </a:pPr>
            <a:r>
              <a:rPr lang="en-IN" sz="1600" b="1" dirty="0"/>
              <a:t>Command Reception:</a:t>
            </a:r>
            <a:endParaRPr lang="en-US" sz="1600" b="1" dirty="0"/>
          </a:p>
        </p:txBody>
      </p:sp>
      <p:sp>
        <p:nvSpPr>
          <p:cNvPr id="10" name="Text 4">
            <a:extLst>
              <a:ext uri="{FF2B5EF4-FFF2-40B4-BE49-F238E27FC236}">
                <a16:creationId xmlns:a16="http://schemas.microsoft.com/office/drawing/2014/main" id="{068367BF-4F74-9DCA-4A3A-CD46BD4D6622}"/>
              </a:ext>
            </a:extLst>
          </p:cNvPr>
          <p:cNvSpPr/>
          <p:nvPr/>
        </p:nvSpPr>
        <p:spPr>
          <a:xfrm>
            <a:off x="1771888" y="2978944"/>
            <a:ext cx="12064722" cy="238125"/>
          </a:xfrm>
          <a:prstGeom prst="rect">
            <a:avLst/>
          </a:prstGeom>
          <a:noFill/>
          <a:ln/>
        </p:spPr>
        <p:txBody>
          <a:bodyPr wrap="none" lIns="0" tIns="0" rIns="0" bIns="0" rtlCol="0" anchor="t"/>
          <a:lstStyle/>
          <a:p>
            <a:pPr>
              <a:lnSpc>
                <a:spcPts val="1850"/>
              </a:lnSpc>
            </a:pPr>
            <a:r>
              <a:rPr lang="en-IN" sz="1600" dirty="0"/>
              <a:t>A user publishes a command (ON/OFF) via the mobile app, which the </a:t>
            </a:r>
            <a:r>
              <a:rPr lang="en-IN" sz="1600" dirty="0" err="1"/>
              <a:t>HiveMQ</a:t>
            </a:r>
            <a:r>
              <a:rPr lang="en-IN" sz="1600" dirty="0"/>
              <a:t> broker instantly routes to the ESP32.</a:t>
            </a:r>
            <a:endParaRPr lang="en-US" sz="1600" dirty="0"/>
          </a:p>
        </p:txBody>
      </p:sp>
      <p:pic>
        <p:nvPicPr>
          <p:cNvPr id="11" name="Image 2" descr="preencoded.png">
            <a:extLst>
              <a:ext uri="{FF2B5EF4-FFF2-40B4-BE49-F238E27FC236}">
                <a16:creationId xmlns:a16="http://schemas.microsoft.com/office/drawing/2014/main" id="{EF9C1DC5-F7F8-A4DE-19F1-B564FF27F6EE}"/>
              </a:ext>
            </a:extLst>
          </p:cNvPr>
          <p:cNvPicPr>
            <a:picLocks noChangeAspect="1"/>
          </p:cNvPicPr>
          <p:nvPr/>
        </p:nvPicPr>
        <p:blipFill>
          <a:blip r:embed="rId6"/>
          <a:stretch>
            <a:fillRect/>
          </a:stretch>
        </p:blipFill>
        <p:spPr>
          <a:xfrm>
            <a:off x="793790" y="3487460"/>
            <a:ext cx="850583" cy="1020723"/>
          </a:xfrm>
          <a:prstGeom prst="rect">
            <a:avLst/>
          </a:prstGeom>
        </p:spPr>
      </p:pic>
      <p:sp>
        <p:nvSpPr>
          <p:cNvPr id="12" name="Text 5">
            <a:extLst>
              <a:ext uri="{FF2B5EF4-FFF2-40B4-BE49-F238E27FC236}">
                <a16:creationId xmlns:a16="http://schemas.microsoft.com/office/drawing/2014/main" id="{D29209B2-0A36-1173-A7B6-C76951D730BB}"/>
              </a:ext>
            </a:extLst>
          </p:cNvPr>
          <p:cNvSpPr/>
          <p:nvPr/>
        </p:nvSpPr>
        <p:spPr>
          <a:xfrm>
            <a:off x="1771888" y="3657481"/>
            <a:ext cx="2126456" cy="265747"/>
          </a:xfrm>
          <a:prstGeom prst="rect">
            <a:avLst/>
          </a:prstGeom>
          <a:noFill/>
          <a:ln/>
        </p:spPr>
        <p:txBody>
          <a:bodyPr wrap="none" lIns="0" tIns="0" rIns="0" bIns="0" rtlCol="0" anchor="t"/>
          <a:lstStyle/>
          <a:p>
            <a:pPr>
              <a:lnSpc>
                <a:spcPts val="2050"/>
              </a:lnSpc>
            </a:pPr>
            <a:r>
              <a:rPr lang="en-IN" sz="1600" b="1" dirty="0"/>
              <a:t>Signal Processing:</a:t>
            </a:r>
            <a:r>
              <a:rPr lang="en-IN" sz="1600" dirty="0"/>
              <a:t> </a:t>
            </a:r>
            <a:endParaRPr lang="en-US" sz="1600" dirty="0"/>
          </a:p>
        </p:txBody>
      </p:sp>
      <p:sp>
        <p:nvSpPr>
          <p:cNvPr id="13" name="Text 6">
            <a:extLst>
              <a:ext uri="{FF2B5EF4-FFF2-40B4-BE49-F238E27FC236}">
                <a16:creationId xmlns:a16="http://schemas.microsoft.com/office/drawing/2014/main" id="{055554D2-0E16-AE6E-64BF-658D3E9E6A83}"/>
              </a:ext>
            </a:extLst>
          </p:cNvPr>
          <p:cNvSpPr/>
          <p:nvPr/>
        </p:nvSpPr>
        <p:spPr>
          <a:xfrm>
            <a:off x="1771888" y="3999667"/>
            <a:ext cx="12064722" cy="238125"/>
          </a:xfrm>
          <a:prstGeom prst="rect">
            <a:avLst/>
          </a:prstGeom>
          <a:noFill/>
          <a:ln/>
        </p:spPr>
        <p:txBody>
          <a:bodyPr wrap="none" lIns="0" tIns="0" rIns="0" bIns="0" rtlCol="0" anchor="t"/>
          <a:lstStyle/>
          <a:p>
            <a:pPr>
              <a:lnSpc>
                <a:spcPts val="1850"/>
              </a:lnSpc>
            </a:pPr>
            <a:r>
              <a:rPr lang="en-IN" sz="1600" dirty="0"/>
              <a:t>The ESP32 interprets the received MQTT message and triggers the corresponding GPIO output pin.</a:t>
            </a:r>
            <a:endParaRPr lang="en-US" sz="1600" dirty="0"/>
          </a:p>
        </p:txBody>
      </p:sp>
      <p:pic>
        <p:nvPicPr>
          <p:cNvPr id="14" name="Image 3" descr="preencoded.png">
            <a:extLst>
              <a:ext uri="{FF2B5EF4-FFF2-40B4-BE49-F238E27FC236}">
                <a16:creationId xmlns:a16="http://schemas.microsoft.com/office/drawing/2014/main" id="{77AB4CAB-39F3-1AB9-3433-B730FD7DFAA3}"/>
              </a:ext>
            </a:extLst>
          </p:cNvPr>
          <p:cNvPicPr>
            <a:picLocks noChangeAspect="1"/>
          </p:cNvPicPr>
          <p:nvPr/>
        </p:nvPicPr>
        <p:blipFill>
          <a:blip r:embed="rId7"/>
          <a:stretch>
            <a:fillRect/>
          </a:stretch>
        </p:blipFill>
        <p:spPr>
          <a:xfrm>
            <a:off x="793790" y="4508183"/>
            <a:ext cx="850583" cy="1020723"/>
          </a:xfrm>
          <a:prstGeom prst="rect">
            <a:avLst/>
          </a:prstGeom>
        </p:spPr>
      </p:pic>
      <p:sp>
        <p:nvSpPr>
          <p:cNvPr id="15" name="Text 7">
            <a:extLst>
              <a:ext uri="{FF2B5EF4-FFF2-40B4-BE49-F238E27FC236}">
                <a16:creationId xmlns:a16="http://schemas.microsoft.com/office/drawing/2014/main" id="{88089377-2845-0CCE-7DE6-86E1DB862A85}"/>
              </a:ext>
            </a:extLst>
          </p:cNvPr>
          <p:cNvSpPr/>
          <p:nvPr/>
        </p:nvSpPr>
        <p:spPr>
          <a:xfrm>
            <a:off x="1771888" y="4678204"/>
            <a:ext cx="2126456" cy="265747"/>
          </a:xfrm>
          <a:prstGeom prst="rect">
            <a:avLst/>
          </a:prstGeom>
          <a:noFill/>
          <a:ln/>
        </p:spPr>
        <p:txBody>
          <a:bodyPr wrap="none" lIns="0" tIns="0" rIns="0" bIns="0" rtlCol="0" anchor="t"/>
          <a:lstStyle/>
          <a:p>
            <a:pPr>
              <a:lnSpc>
                <a:spcPts val="2050"/>
              </a:lnSpc>
            </a:pPr>
            <a:r>
              <a:rPr lang="en-IN" sz="1600" b="1" dirty="0"/>
              <a:t>Load Switching:</a:t>
            </a:r>
            <a:r>
              <a:rPr lang="en-IN" sz="1600" dirty="0"/>
              <a:t> </a:t>
            </a:r>
            <a:endParaRPr lang="en-US" sz="1600" dirty="0"/>
          </a:p>
        </p:txBody>
      </p:sp>
      <p:sp>
        <p:nvSpPr>
          <p:cNvPr id="16" name="Text 8">
            <a:extLst>
              <a:ext uri="{FF2B5EF4-FFF2-40B4-BE49-F238E27FC236}">
                <a16:creationId xmlns:a16="http://schemas.microsoft.com/office/drawing/2014/main" id="{4B3E17CB-89CC-7A1A-B328-51189E78BE77}"/>
              </a:ext>
            </a:extLst>
          </p:cNvPr>
          <p:cNvSpPr/>
          <p:nvPr/>
        </p:nvSpPr>
        <p:spPr>
          <a:xfrm>
            <a:off x="1771888" y="5020389"/>
            <a:ext cx="10966650" cy="580312"/>
          </a:xfrm>
          <a:prstGeom prst="rect">
            <a:avLst/>
          </a:prstGeom>
          <a:noFill/>
          <a:ln/>
        </p:spPr>
        <p:txBody>
          <a:bodyPr wrap="none" lIns="0" tIns="0" rIns="0" bIns="0" rtlCol="0" anchor="t"/>
          <a:lstStyle/>
          <a:p>
            <a:pPr>
              <a:lnSpc>
                <a:spcPts val="1850"/>
              </a:lnSpc>
            </a:pPr>
            <a:r>
              <a:rPr lang="en-IN" sz="1600" dirty="0"/>
              <a:t>The 4-channel relay module receives the low-voltage signal from the ESP32 to switch the high-voltage appliances </a:t>
            </a:r>
          </a:p>
          <a:p>
            <a:pPr>
              <a:lnSpc>
                <a:spcPts val="1850"/>
              </a:lnSpc>
            </a:pPr>
            <a:r>
              <a:rPr lang="en-IN" sz="1600" dirty="0"/>
              <a:t>like lights and fans.</a:t>
            </a:r>
            <a:endParaRPr lang="en-US" sz="1600" dirty="0"/>
          </a:p>
        </p:txBody>
      </p:sp>
      <p:pic>
        <p:nvPicPr>
          <p:cNvPr id="18" name="Image 4" descr="preencoded.png">
            <a:extLst>
              <a:ext uri="{FF2B5EF4-FFF2-40B4-BE49-F238E27FC236}">
                <a16:creationId xmlns:a16="http://schemas.microsoft.com/office/drawing/2014/main" id="{812AE6BF-843C-9977-80DB-652B1874E96B}"/>
              </a:ext>
            </a:extLst>
          </p:cNvPr>
          <p:cNvPicPr>
            <a:picLocks noChangeAspect="1"/>
          </p:cNvPicPr>
          <p:nvPr/>
        </p:nvPicPr>
        <p:blipFill>
          <a:blip r:embed="rId8"/>
          <a:stretch>
            <a:fillRect/>
          </a:stretch>
        </p:blipFill>
        <p:spPr>
          <a:xfrm>
            <a:off x="793790" y="5528905"/>
            <a:ext cx="850583" cy="1020723"/>
          </a:xfrm>
          <a:prstGeom prst="rect">
            <a:avLst/>
          </a:prstGeom>
        </p:spPr>
      </p:pic>
      <p:sp>
        <p:nvSpPr>
          <p:cNvPr id="19" name="Text 9">
            <a:extLst>
              <a:ext uri="{FF2B5EF4-FFF2-40B4-BE49-F238E27FC236}">
                <a16:creationId xmlns:a16="http://schemas.microsoft.com/office/drawing/2014/main" id="{FD87DC41-F48F-A185-8FBF-8BB32688531A}"/>
              </a:ext>
            </a:extLst>
          </p:cNvPr>
          <p:cNvSpPr/>
          <p:nvPr/>
        </p:nvSpPr>
        <p:spPr>
          <a:xfrm>
            <a:off x="1771888" y="5698927"/>
            <a:ext cx="2324338" cy="265747"/>
          </a:xfrm>
          <a:prstGeom prst="rect">
            <a:avLst/>
          </a:prstGeom>
          <a:noFill/>
          <a:ln/>
        </p:spPr>
        <p:txBody>
          <a:bodyPr wrap="none" lIns="0" tIns="0" rIns="0" bIns="0" rtlCol="0" anchor="t"/>
          <a:lstStyle/>
          <a:p>
            <a:pPr>
              <a:lnSpc>
                <a:spcPts val="2050"/>
              </a:lnSpc>
            </a:pPr>
            <a:r>
              <a:rPr lang="en-IN" sz="1600" b="1" dirty="0"/>
              <a:t>Status Feedback:</a:t>
            </a:r>
            <a:endParaRPr lang="en-US" sz="1600" b="1" dirty="0"/>
          </a:p>
        </p:txBody>
      </p:sp>
      <p:sp>
        <p:nvSpPr>
          <p:cNvPr id="20" name="Text 10">
            <a:extLst>
              <a:ext uri="{FF2B5EF4-FFF2-40B4-BE49-F238E27FC236}">
                <a16:creationId xmlns:a16="http://schemas.microsoft.com/office/drawing/2014/main" id="{3362A56E-A2A1-CB6B-8326-E44ADF4DBA4E}"/>
              </a:ext>
            </a:extLst>
          </p:cNvPr>
          <p:cNvSpPr/>
          <p:nvPr/>
        </p:nvSpPr>
        <p:spPr>
          <a:xfrm>
            <a:off x="1771888" y="6041112"/>
            <a:ext cx="12064722" cy="238125"/>
          </a:xfrm>
          <a:prstGeom prst="rect">
            <a:avLst/>
          </a:prstGeom>
          <a:noFill/>
          <a:ln/>
        </p:spPr>
        <p:txBody>
          <a:bodyPr wrap="none" lIns="0" tIns="0" rIns="0" bIns="0" rtlCol="0" anchor="t"/>
          <a:lstStyle/>
          <a:p>
            <a:pPr>
              <a:lnSpc>
                <a:spcPts val="1850"/>
              </a:lnSpc>
            </a:pPr>
            <a:r>
              <a:rPr lang="en-IN" sz="1600" dirty="0"/>
              <a:t>The system sends a real-time status update back to the MQTT cloud to confirm the device state on the user's dashboard.</a:t>
            </a:r>
            <a:endParaRPr lang="en-US" sz="1600" dirty="0"/>
          </a:p>
        </p:txBody>
      </p:sp>
      <p:sp>
        <p:nvSpPr>
          <p:cNvPr id="22" name="Text 11">
            <a:extLst>
              <a:ext uri="{FF2B5EF4-FFF2-40B4-BE49-F238E27FC236}">
                <a16:creationId xmlns:a16="http://schemas.microsoft.com/office/drawing/2014/main" id="{DD6D44A2-EBFB-1652-63E9-9469932DE581}"/>
              </a:ext>
            </a:extLst>
          </p:cNvPr>
          <p:cNvSpPr/>
          <p:nvPr/>
        </p:nvSpPr>
        <p:spPr>
          <a:xfrm>
            <a:off x="1771888" y="6719649"/>
            <a:ext cx="2126456" cy="265747"/>
          </a:xfrm>
          <a:prstGeom prst="rect">
            <a:avLst/>
          </a:prstGeom>
          <a:noFill/>
          <a:ln/>
        </p:spPr>
        <p:txBody>
          <a:bodyPr wrap="none" lIns="0" tIns="0" rIns="0" bIns="0" rtlCol="0" anchor="t"/>
          <a:lstStyle/>
          <a:p>
            <a:pPr marL="0" indent="0" algn="l">
              <a:lnSpc>
                <a:spcPts val="2050"/>
              </a:lnSpc>
              <a:buNone/>
            </a:pPr>
            <a:endParaRPr lang="en-US" sz="1600" dirty="0"/>
          </a:p>
        </p:txBody>
      </p:sp>
      <p:sp>
        <p:nvSpPr>
          <p:cNvPr id="23" name="Text 12">
            <a:extLst>
              <a:ext uri="{FF2B5EF4-FFF2-40B4-BE49-F238E27FC236}">
                <a16:creationId xmlns:a16="http://schemas.microsoft.com/office/drawing/2014/main" id="{259885AE-7974-D2B8-6D0B-2ECC6B865B2A}"/>
              </a:ext>
            </a:extLst>
          </p:cNvPr>
          <p:cNvSpPr/>
          <p:nvPr/>
        </p:nvSpPr>
        <p:spPr>
          <a:xfrm>
            <a:off x="1771888" y="7061835"/>
            <a:ext cx="12064722" cy="238125"/>
          </a:xfrm>
          <a:prstGeom prst="rect">
            <a:avLst/>
          </a:prstGeom>
          <a:noFill/>
          <a:ln/>
        </p:spPr>
        <p:txBody>
          <a:bodyPr wrap="none" lIns="0" tIns="0" rIns="0" bIns="0" rtlCol="0" anchor="t"/>
          <a:lstStyle/>
          <a:p>
            <a:pPr marL="0" indent="0" algn="l">
              <a:lnSpc>
                <a:spcPts val="1850"/>
              </a:lnSpc>
              <a:buNone/>
            </a:pPr>
            <a:endParaRPr lang="en-US" sz="1600" dirty="0"/>
          </a:p>
        </p:txBody>
      </p:sp>
    </p:spTree>
    <p:extLst>
      <p:ext uri="{BB962C8B-B14F-4D97-AF65-F5344CB8AC3E}">
        <p14:creationId xmlns:p14="http://schemas.microsoft.com/office/powerpoint/2010/main" val="54165975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4440497" y="490601"/>
            <a:ext cx="271251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Flowchart</a:t>
            </a:r>
            <a:endParaRPr lang="en-US" sz="2400" dirty="0">
              <a:latin typeface="Agency FB" panose="020B0503020202020204" pitchFamily="34" charset="0"/>
            </a:endParaRPr>
          </a:p>
        </p:txBody>
      </p:sp>
      <p:pic>
        <p:nvPicPr>
          <p:cNvPr id="17" name="Picture 2" descr="KL Deemed to be University Logo"/>
          <p:cNvPicPr>
            <a:picLocks noChangeAspect="1" noChangeArrowheads="1"/>
          </p:cNvPicPr>
          <p:nvPr/>
        </p:nvPicPr>
        <p:blipFill>
          <a:blip r:embed="rId2"/>
          <a:srcRect/>
          <a:stretch>
            <a:fillRect/>
          </a:stretch>
        </p:blipFill>
        <p:spPr bwMode="auto">
          <a:xfrm>
            <a:off x="132080" y="190563"/>
            <a:ext cx="1990725" cy="600076"/>
          </a:xfrm>
          <a:prstGeom prst="rect">
            <a:avLst/>
          </a:prstGeom>
          <a:noFill/>
        </p:spPr>
      </p:pic>
      <p:sp>
        <p:nvSpPr>
          <p:cNvPr id="2" name="AutoShape 2">
            <a:extLst>
              <a:ext uri="{FF2B5EF4-FFF2-40B4-BE49-F238E27FC236}">
                <a16:creationId xmlns:a16="http://schemas.microsoft.com/office/drawing/2014/main" id="{24800256-DC50-BCD9-DBC6-2E0543788454}"/>
              </a:ext>
            </a:extLst>
          </p:cNvPr>
          <p:cNvSpPr>
            <a:spLocks noChangeAspect="1" noChangeArrowheads="1"/>
          </p:cNvSpPr>
          <p:nvPr/>
        </p:nvSpPr>
        <p:spPr bwMode="auto">
          <a:xfrm>
            <a:off x="6140245" y="325693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29416AAB-931A-A0A1-C1FA-3FBA5F242BCF}"/>
              </a:ext>
            </a:extLst>
          </p:cNvPr>
          <p:cNvPicPr>
            <a:picLocks noChangeAspect="1"/>
          </p:cNvPicPr>
          <p:nvPr/>
        </p:nvPicPr>
        <p:blipFill>
          <a:blip r:embed="rId3"/>
          <a:stretch>
            <a:fillRect/>
          </a:stretch>
        </p:blipFill>
        <p:spPr>
          <a:xfrm>
            <a:off x="1127442" y="1268207"/>
            <a:ext cx="9753600" cy="5324475"/>
          </a:xfrm>
          <a:prstGeom prst="rect">
            <a:avLst/>
          </a:prstGeom>
        </p:spPr>
      </p:pic>
    </p:spTree>
    <p:extLst>
      <p:ext uri="{BB962C8B-B14F-4D97-AF65-F5344CB8AC3E}">
        <p14:creationId xmlns:p14="http://schemas.microsoft.com/office/powerpoint/2010/main" val="996426903"/>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KL Deemed to be University Logo"/>
          <p:cNvPicPr>
            <a:picLocks noChangeAspect="1" noChangeArrowheads="1"/>
          </p:cNvPicPr>
          <p:nvPr/>
        </p:nvPicPr>
        <p:blipFill>
          <a:blip r:embed="rId2"/>
          <a:srcRect/>
          <a:stretch>
            <a:fillRect/>
          </a:stretch>
        </p:blipFill>
        <p:spPr bwMode="auto">
          <a:xfrm>
            <a:off x="162560" y="206146"/>
            <a:ext cx="1990725" cy="600076"/>
          </a:xfrm>
          <a:prstGeom prst="rect">
            <a:avLst/>
          </a:prstGeom>
          <a:noFill/>
        </p:spPr>
      </p:pic>
      <p:sp>
        <p:nvSpPr>
          <p:cNvPr id="2" name="Rounded Rectangle 17">
            <a:extLst>
              <a:ext uri="{FF2B5EF4-FFF2-40B4-BE49-F238E27FC236}">
                <a16:creationId xmlns:a16="http://schemas.microsoft.com/office/drawing/2014/main" id="{ED7FD29D-BBDE-078E-D487-E57247CDB50D}"/>
              </a:ext>
            </a:extLst>
          </p:cNvPr>
          <p:cNvSpPr/>
          <p:nvPr/>
        </p:nvSpPr>
        <p:spPr>
          <a:xfrm>
            <a:off x="3740410" y="600076"/>
            <a:ext cx="4568940"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Conclusion &amp; Future Scope</a:t>
            </a:r>
            <a:endParaRPr lang="en-US" sz="2400" dirty="0">
              <a:latin typeface="Agency FB" panose="020B0503020202020204" pitchFamily="34" charset="0"/>
            </a:endParaRPr>
          </a:p>
        </p:txBody>
      </p:sp>
      <p:sp>
        <p:nvSpPr>
          <p:cNvPr id="5" name="TextBox 4">
            <a:extLst>
              <a:ext uri="{FF2B5EF4-FFF2-40B4-BE49-F238E27FC236}">
                <a16:creationId xmlns:a16="http://schemas.microsoft.com/office/drawing/2014/main" id="{3557F94D-869C-3AC4-BE0F-ACE755AE60CB}"/>
              </a:ext>
            </a:extLst>
          </p:cNvPr>
          <p:cNvSpPr txBox="1"/>
          <p:nvPr/>
        </p:nvSpPr>
        <p:spPr>
          <a:xfrm>
            <a:off x="2655917" y="1431637"/>
            <a:ext cx="8067040" cy="4481355"/>
          </a:xfrm>
          <a:prstGeom prst="rect">
            <a:avLst/>
          </a:prstGeom>
          <a:noFill/>
        </p:spPr>
        <p:txBody>
          <a:bodyPr wrap="square">
            <a:spAutoFit/>
          </a:bodyPr>
          <a:lstStyle/>
          <a:p>
            <a:pPr>
              <a:lnSpc>
                <a:spcPct val="150000"/>
              </a:lnSpc>
              <a:buNone/>
            </a:pPr>
            <a:r>
              <a:rPr lang="en-US" sz="2400" b="1" dirty="0">
                <a:latin typeface="Times New Roman" panose="02020603050405020304" pitchFamily="18" charset="0"/>
                <a:cs typeface="Times New Roman" panose="02020603050405020304" pitchFamily="18" charset="0"/>
              </a:rPr>
              <a:t>Conclusion:</a:t>
            </a:r>
            <a:endParaRPr lang="en-US" sz="24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itchFamily="2" charset="2"/>
              <a:buChar char="Ø"/>
            </a:pPr>
            <a:r>
              <a:rPr lang="en-IN" dirty="0">
                <a:latin typeface="Times New Roman" panose="02020603050405020304" pitchFamily="18" charset="0"/>
                <a:cs typeface="Times New Roman" panose="02020603050405020304" pitchFamily="18" charset="0"/>
              </a:rPr>
              <a:t>This project demonstrates a smart home automation system using ESP32 and MQTT. It allows users to control lights and fan remotely through the internet. The system is low-cost, easy to use, and helps in saving energy. It also provides practical knowledge of IoT and embedded systems.</a:t>
            </a:r>
          </a:p>
          <a:p>
            <a:pPr>
              <a:lnSpc>
                <a:spcPct val="150000"/>
              </a:lnSpc>
              <a:buNone/>
            </a:pPr>
            <a:r>
              <a:rPr lang="en-US" sz="2400" b="1" dirty="0">
                <a:latin typeface="Times New Roman" panose="02020603050405020304" pitchFamily="18" charset="0"/>
                <a:cs typeface="Times New Roman" panose="02020603050405020304" pitchFamily="18" charset="0"/>
              </a:rPr>
              <a:t>Future Scope:</a:t>
            </a:r>
            <a:endParaRPr lang="en-US" sz="2400" dirty="0">
              <a:latin typeface="Times New Roman" panose="02020603050405020304" pitchFamily="18" charset="0"/>
              <a:cs typeface="Times New Roman" panose="02020603050405020304" pitchFamily="18" charset="0"/>
            </a:endParaRPr>
          </a:p>
          <a:p>
            <a:pPr marL="285750" indent="-285750">
              <a:lnSpc>
                <a:spcPct val="150000"/>
              </a:lnSpc>
              <a:buFont typeface="Wingdings" pitchFamily="2" charset="2"/>
              <a:buChar char="Ø"/>
            </a:pPr>
            <a:r>
              <a:rPr lang="en-IN" dirty="0"/>
              <a:t>Implement sensor to automatic automation system.</a:t>
            </a:r>
          </a:p>
          <a:p>
            <a:pPr marL="285750" indent="-285750">
              <a:lnSpc>
                <a:spcPct val="150000"/>
              </a:lnSpc>
              <a:buFont typeface="Wingdings" pitchFamily="2" charset="2"/>
              <a:buChar char="Ø"/>
            </a:pPr>
            <a:r>
              <a:rPr lang="en-IN" dirty="0"/>
              <a:t>Add smart power consumption analytics.</a:t>
            </a:r>
          </a:p>
          <a:p>
            <a:pPr marL="285750" indent="-285750">
              <a:lnSpc>
                <a:spcPct val="150000"/>
              </a:lnSpc>
              <a:buFont typeface="Wingdings" pitchFamily="2" charset="2"/>
              <a:buChar char="Ø"/>
            </a:pPr>
            <a:r>
              <a:rPr lang="en-IN" dirty="0"/>
              <a:t>Enable multi-user access control.</a:t>
            </a:r>
          </a:p>
          <a:p>
            <a:pPr marL="285750" indent="-285750">
              <a:lnSpc>
                <a:spcPct val="150000"/>
              </a:lnSpc>
              <a:buFont typeface="Wingdings" pitchFamily="2" charset="2"/>
              <a:buChar char="Ø"/>
            </a:pPr>
            <a:r>
              <a:rPr lang="en-IN" dirty="0"/>
              <a:t>Integrate with smart grid technology.</a:t>
            </a:r>
          </a:p>
        </p:txBody>
      </p:sp>
    </p:spTree>
    <p:extLst>
      <p:ext uri="{BB962C8B-B14F-4D97-AF65-F5344CB8AC3E}">
        <p14:creationId xmlns:p14="http://schemas.microsoft.com/office/powerpoint/2010/main" val="4192766172"/>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lose-up of water droplet on a leaf">
            <a:extLst>
              <a:ext uri="{FF2B5EF4-FFF2-40B4-BE49-F238E27FC236}">
                <a16:creationId xmlns:a16="http://schemas.microsoft.com/office/drawing/2014/main" id="{BE1F3FF1-7490-5AF2-82FC-F180A7F08958}"/>
              </a:ext>
            </a:extLst>
          </p:cNvPr>
          <p:cNvPicPr>
            <a:picLocks noChangeAspect="1"/>
          </p:cNvPicPr>
          <p:nvPr/>
        </p:nvPicPr>
        <p:blipFill>
          <a:blip r:embed="rId2" cstate="print">
            <a:extLst>
              <a:ext uri="{28A0092B-C50C-407E-A947-70E740481C1C}">
                <a14:useLocalDpi xmlns:a14="http://schemas.microsoft.com/office/drawing/2010/main" val="0"/>
              </a:ext>
            </a:extLst>
          </a:blip>
          <a:srcRect l="7802" r="7802"/>
          <a:stretch/>
        </p:blipFill>
        <p:spPr>
          <a:xfrm>
            <a:off x="0" y="3250970"/>
            <a:ext cx="5411864" cy="3607029"/>
          </a:xfrm>
          <a:prstGeom prst="rect">
            <a:avLst/>
          </a:prstGeom>
        </p:spPr>
      </p:pic>
      <p:pic>
        <p:nvPicPr>
          <p:cNvPr id="3" name="Picture 2" descr="Abstract render of glass nodes and mesh">
            <a:extLst>
              <a:ext uri="{FF2B5EF4-FFF2-40B4-BE49-F238E27FC236}">
                <a16:creationId xmlns:a16="http://schemas.microsoft.com/office/drawing/2014/main" id="{A8E88C5D-D746-457B-2977-4C697E77A886}"/>
              </a:ext>
            </a:extLst>
          </p:cNvPr>
          <p:cNvPicPr>
            <a:picLocks noChangeAspect="1"/>
          </p:cNvPicPr>
          <p:nvPr/>
        </p:nvPicPr>
        <p:blipFill>
          <a:blip r:embed="rId3" cstate="print">
            <a:extLst>
              <a:ext uri="{28A0092B-C50C-407E-A947-70E740481C1C}">
                <a14:useLocalDpi xmlns:a14="http://schemas.microsoft.com/office/drawing/2010/main" val="0"/>
              </a:ext>
            </a:extLst>
          </a:blip>
          <a:srcRect t="537" b="537"/>
          <a:stretch/>
        </p:blipFill>
        <p:spPr>
          <a:xfrm>
            <a:off x="6668801" y="0"/>
            <a:ext cx="5523199" cy="3607029"/>
          </a:xfrm>
          <a:prstGeom prst="rect">
            <a:avLst/>
          </a:prstGeom>
        </p:spPr>
      </p:pic>
      <p:sp>
        <p:nvSpPr>
          <p:cNvPr id="4" name="Rounded Rectangle 3">
            <a:extLst>
              <a:ext uri="{FF2B5EF4-FFF2-40B4-BE49-F238E27FC236}">
                <a16:creationId xmlns:a16="http://schemas.microsoft.com/office/drawing/2014/main" id="{E792BE84-3448-2348-B352-CD5BC083E5FD}"/>
              </a:ext>
            </a:extLst>
          </p:cNvPr>
          <p:cNvSpPr/>
          <p:nvPr/>
        </p:nvSpPr>
        <p:spPr>
          <a:xfrm>
            <a:off x="1988658" y="1987061"/>
            <a:ext cx="7920111" cy="2883877"/>
          </a:xfrm>
          <a:prstGeom prst="roundRect">
            <a:avLst/>
          </a:prstGeom>
          <a:solidFill>
            <a:schemeClr val="bg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latin typeface="Agency FB" panose="020B0503020202020204" pitchFamily="34" charset="0"/>
                <a:cs typeface="Poppins" pitchFamily="2" charset="77"/>
              </a:rPr>
              <a:t>THANK YOU</a:t>
            </a:r>
          </a:p>
          <a:p>
            <a:pPr algn="ctr"/>
            <a:endParaRPr lang="en-US" sz="2800" dirty="0">
              <a:solidFill>
                <a:schemeClr val="tx1"/>
              </a:solidFill>
              <a:latin typeface="Agency FB" panose="020B0503020202020204" pitchFamily="34" charset="0"/>
              <a:cs typeface="Poppins" pitchFamily="2" charset="77"/>
            </a:endParaRPr>
          </a:p>
          <a:p>
            <a:pPr algn="ctr"/>
            <a:endParaRPr lang="en-US" sz="2800" dirty="0">
              <a:solidFill>
                <a:schemeClr val="tx1"/>
              </a:solidFill>
              <a:latin typeface="Agency FB" panose="020B0503020202020204" pitchFamily="34" charset="0"/>
              <a:cs typeface="Poppins" pitchFamily="2" charset="77"/>
            </a:endParaRPr>
          </a:p>
          <a:p>
            <a:pPr algn="ctr"/>
            <a:endParaRPr lang="en-US" sz="2800" dirty="0">
              <a:solidFill>
                <a:schemeClr val="tx1"/>
              </a:solidFill>
              <a:latin typeface="Agency FB" panose="020B0503020202020204" pitchFamily="34" charset="0"/>
              <a:cs typeface="Poppins" pitchFamily="2" charset="77"/>
            </a:endParaRPr>
          </a:p>
          <a:p>
            <a:pPr marR="0" lvl="0" indent="0" algn="ctr">
              <a:spcBef>
                <a:spcPts val="0"/>
              </a:spcBef>
              <a:spcAft>
                <a:spcPts val="0"/>
              </a:spcAft>
              <a:buNone/>
            </a:pPr>
            <a:r>
              <a:rPr lang="en-IN" sz="2800" b="1" dirty="0">
                <a:solidFill>
                  <a:schemeClr val="tx1"/>
                </a:solidFill>
                <a:latin typeface="Times New Roman" panose="02020603050405020304" pitchFamily="18" charset="0"/>
                <a:cs typeface="Times New Roman" panose="02020603050405020304" pitchFamily="18" charset="0"/>
              </a:rPr>
              <a:t>EMBEDDED PROTOTYPE</a:t>
            </a:r>
          </a:p>
        </p:txBody>
      </p:sp>
      <p:pic>
        <p:nvPicPr>
          <p:cNvPr id="6" name="Picture 2" descr="KL Deemed to be University Logo"/>
          <p:cNvPicPr>
            <a:picLocks noChangeAspect="1" noChangeArrowheads="1"/>
          </p:cNvPicPr>
          <p:nvPr/>
        </p:nvPicPr>
        <p:blipFill>
          <a:blip r:embed="rId4"/>
          <a:srcRect/>
          <a:stretch>
            <a:fillRect/>
          </a:stretch>
        </p:blipFill>
        <p:spPr bwMode="auto">
          <a:xfrm>
            <a:off x="4935695" y="2887393"/>
            <a:ext cx="3235570" cy="1083212"/>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040adea-6839-447d-bd0d-6d532fe2a03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12519431157564F9201AF4BC2FEACD3" ma:contentTypeVersion="6" ma:contentTypeDescription="Create a new document." ma:contentTypeScope="" ma:versionID="8073f79857fadeec545986a1825fc259">
  <xsd:schema xmlns:xsd="http://www.w3.org/2001/XMLSchema" xmlns:xs="http://www.w3.org/2001/XMLSchema" xmlns:p="http://schemas.microsoft.com/office/2006/metadata/properties" xmlns:ns3="2040adea-6839-447d-bd0d-6d532fe2a037" targetNamespace="http://schemas.microsoft.com/office/2006/metadata/properties" ma:root="true" ma:fieldsID="a6740e22eac9a6061b8ba45743d3bc8b" ns3:_="">
    <xsd:import namespace="2040adea-6839-447d-bd0d-6d532fe2a03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40adea-6839-447d-bd0d-6d532fe2a03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BD0A98-E68B-4DAA-8964-2F739D6D4075}">
  <ds:schemaRefs>
    <ds:schemaRef ds:uri="http://www.w3.org/XML/1998/namespace"/>
    <ds:schemaRef ds:uri="http://purl.org/dc/elements/1.1/"/>
    <ds:schemaRef ds:uri="2040adea-6839-447d-bd0d-6d532fe2a037"/>
    <ds:schemaRef ds:uri="http://schemas.microsoft.com/office/2006/documentManagement/types"/>
    <ds:schemaRef ds:uri="http://purl.org/dc/dcmitype/"/>
    <ds:schemaRef ds:uri="http://purl.org/dc/terms/"/>
    <ds:schemaRef ds:uri="http://schemas.microsoft.com/office/2006/metadata/propertie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4CCC00CD-EA79-4086-89DF-CE795347B1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40adea-6839-447d-bd0d-6d532fe2a0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1667</TotalTime>
  <Words>482</Words>
  <Application>Microsoft Office PowerPoint</Application>
  <PresentationFormat>Widescreen</PresentationFormat>
  <Paragraphs>68</Paragraphs>
  <Slides>9</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Agency FB</vt:lpstr>
      <vt:lpstr>Arial</vt:lpstr>
      <vt:lpstr>Bangla Sangam MN</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GARLAPATI MUKHESH KUMAR</cp:lastModifiedBy>
  <cp:revision>57</cp:revision>
  <dcterms:created xsi:type="dcterms:W3CDTF">2020-02-08T09:57:44Z</dcterms:created>
  <dcterms:modified xsi:type="dcterms:W3CDTF">2026-03-01T06:25:10Z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0x010100A12519431157564F9201AF4BC2FEACD3</vt:lpwstr>
  </property>
</Properties>
</file>